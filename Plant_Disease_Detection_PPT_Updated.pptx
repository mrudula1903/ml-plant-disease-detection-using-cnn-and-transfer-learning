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28" r:id="rId1"/>
  </p:sldMasterIdLst>
  <p:sldIdLst>
    <p:sldId id="256" r:id="rId2"/>
    <p:sldId id="257" r:id="rId3"/>
    <p:sldId id="259" r:id="rId4"/>
    <p:sldId id="262" r:id="rId5"/>
    <p:sldId id="263" r:id="rId6"/>
    <p:sldId id="264" r:id="rId7"/>
    <p:sldId id="265" r:id="rId8"/>
    <p:sldId id="266" r:id="rId9"/>
    <p:sldId id="267" r:id="rId10"/>
    <p:sldId id="268" r:id="rId11"/>
    <p:sldId id="269" r:id="rId12"/>
    <p:sldId id="270" r:id="rId13"/>
    <p:sldId id="273" r:id="rId14"/>
    <p:sldId id="271" r:id="rId15"/>
    <p:sldId id="272" r:id="rId16"/>
    <p:sldId id="274" r:id="rId17"/>
    <p:sldId id="275" r:id="rId18"/>
    <p:sldId id="276" r:id="rId19"/>
    <p:sldId id="277" r:id="rId20"/>
    <p:sldId id="278" r:id="rId21"/>
    <p:sldId id="279" r:id="rId22"/>
    <p:sldId id="26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4837-CB21-D79B-449E-336AB26B39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6DF330-FCA2-C79F-23DD-026660E48D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9C0E26-B700-BF09-56F9-78F72908ABC6}"/>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BA1EA9FA-F6C3-1AAB-F083-4E38DC7A4CF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601BD5-5199-9C13-EB45-5F1F14E756A8}"/>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9081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43A5-31EC-8BB4-0044-0BCFA555B6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7CFCF7-A0A8-0BC5-3FFB-F8EA82B61C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FA2AA4-5FA0-D374-A04C-38A7B7453277}"/>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5576BA9D-E4CD-3650-E6DF-ECDD91C7B72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F62BEE6-2075-3418-20DA-32E63286E97F}"/>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95074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B3DA4-F188-8FD3-C234-FDC3C31432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450C61-8C01-E665-1430-2332CC5C5E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34AD43-462C-5544-5ECA-EE1A04A84930}"/>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BE99F558-3D92-A24A-5D2D-BB73F9EC35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2D9C0E-4920-2F93-AF71-A17BE50D152A}"/>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4772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DE90-5123-55C0-E8FD-0F7880C185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F0C229-E4C5-955F-B862-3F37ADB414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6F0E15-082F-E785-5C1E-095D537561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753FAE-7CD0-66E4-E1E2-DA8F30400566}"/>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6" name="Footer Placeholder 5">
            <a:extLst>
              <a:ext uri="{FF2B5EF4-FFF2-40B4-BE49-F238E27FC236}">
                <a16:creationId xmlns:a16="http://schemas.microsoft.com/office/drawing/2014/main" id="{EFBA2571-AB96-09B2-8DC6-E5FB37C664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362DEE-39DC-2861-5DA8-EDF0936E6155}"/>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19323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CB666-C30E-B15A-0FF1-5E6C3103FC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5C7A9B-A995-9048-8A04-8FB06262E7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D5BB8C-DF7A-BAE5-13E9-5AEDC64DE2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CB19A9-B9AB-E814-AC78-DB327B61E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C505DD-BC46-CA3B-7DA3-4EF87CF1DA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7563F7-6DC3-9323-053F-883CC085DF95}"/>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8" name="Footer Placeholder 7">
            <a:extLst>
              <a:ext uri="{FF2B5EF4-FFF2-40B4-BE49-F238E27FC236}">
                <a16:creationId xmlns:a16="http://schemas.microsoft.com/office/drawing/2014/main" id="{E0DFD8D4-0852-D94B-629D-299A89F12C0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1BFEB4C-5E90-102E-93CC-89BF190C51B3}"/>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6987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A7CD-3BDA-557B-B591-4C4A6E2587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5A12B2-7754-7555-A503-7008EAE35598}"/>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4" name="Footer Placeholder 3">
            <a:extLst>
              <a:ext uri="{FF2B5EF4-FFF2-40B4-BE49-F238E27FC236}">
                <a16:creationId xmlns:a16="http://schemas.microsoft.com/office/drawing/2014/main" id="{105408E7-0AD0-E9CB-BED7-81B91FBB883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D737FE1-ACFC-CF68-C0A0-BB750FC23689}"/>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8357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ECC905-960B-BD5E-C928-0A20B297096C}"/>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3" name="Footer Placeholder 2">
            <a:extLst>
              <a:ext uri="{FF2B5EF4-FFF2-40B4-BE49-F238E27FC236}">
                <a16:creationId xmlns:a16="http://schemas.microsoft.com/office/drawing/2014/main" id="{FD981793-90FF-2E57-F4B5-AFEE0A365D0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B3B409D-F4C6-48DD-5D6A-E61D30BF7433}"/>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87922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A337-E04B-5A96-DA02-882B0F560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D71E23-4963-C181-6B29-D53F4C894C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B4C1DB-8DD4-BB67-3A52-690F11061E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F60E82-C24A-45FA-118B-E797946793AF}"/>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6" name="Footer Placeholder 5">
            <a:extLst>
              <a:ext uri="{FF2B5EF4-FFF2-40B4-BE49-F238E27FC236}">
                <a16:creationId xmlns:a16="http://schemas.microsoft.com/office/drawing/2014/main" id="{B96866B3-FAF7-F9BA-6C09-C5C86CEC411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6B6162-18AE-821A-7254-F9713FA002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53468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96955-2561-155B-3EBF-C976C9E1C0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823248-B124-03EE-6C4A-65C683A6CAA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F6F83E-9B18-CBB0-3D9C-EF88239B70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A3B44-04D8-6A71-276F-C8020A9218DD}"/>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6" name="Footer Placeholder 5">
            <a:extLst>
              <a:ext uri="{FF2B5EF4-FFF2-40B4-BE49-F238E27FC236}">
                <a16:creationId xmlns:a16="http://schemas.microsoft.com/office/drawing/2014/main" id="{B90978D2-4985-FFF7-4BEB-43409D2624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230FD45-041A-1446-DB0D-969E6925C10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48362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79B7-584B-8F81-5A29-2A74C01466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99C8A-7DBA-8433-18F7-BBABAD789E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A874B2-0F0F-C6BF-CB98-188DA626C006}"/>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781D3CF3-82C2-C63C-7275-48B73ABEE00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2C61B7-7B4B-0508-B459-79D896C55172}"/>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131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E98BED-0830-6835-2846-A9A93C6DFD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7D4601-0175-0E25-5D49-7D34954CDC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89C5F6-28E2-31E2-670D-1036C821E6DB}"/>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72DE3C59-2E66-32D6-EC86-D1A85064EF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C831E8F-29BC-D205-4F4F-83A0402FA724}"/>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47880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48A87A34-81AB-432B-8DAE-1953F412C126}" type="datetimeFigureOut">
              <a:rPr lang="en-US" smtClean="0"/>
              <a:pPr/>
              <a:t>10/13/2026</a:t>
            </a:fld>
            <a:endParaRPr lang="en-US" dirty="0"/>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2036088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B3C040-B35C-F035-4DE9-52E16A5FB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4352B4-763A-B65B-0EFD-5968C3487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8F96B-F069-B359-B4F7-7E8941FEC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A87A34-81AB-432B-8DAE-1953F412C126}" type="datetimeFigureOut">
              <a:rPr lang="en-US" smtClean="0"/>
              <a:pPr/>
              <a:t>10/13/2026</a:t>
            </a:fld>
            <a:endParaRPr lang="en-US" dirty="0"/>
          </a:p>
        </p:txBody>
      </p:sp>
      <p:sp>
        <p:nvSpPr>
          <p:cNvPr id="5" name="Footer Placeholder 4">
            <a:extLst>
              <a:ext uri="{FF2B5EF4-FFF2-40B4-BE49-F238E27FC236}">
                <a16:creationId xmlns:a16="http://schemas.microsoft.com/office/drawing/2014/main" id="{FF413171-1148-BDBE-9899-5BAC71F793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B287639C-BE97-1DD0-C661-43A624D00C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98198267"/>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69C3B9-E417-3FB1-7245-6535212FB1B9}"/>
              </a:ext>
            </a:extLst>
          </p:cNvPr>
          <p:cNvPicPr>
            <a:picLocks noChangeAspect="1"/>
          </p:cNvPicPr>
          <p:nvPr/>
        </p:nvPicPr>
        <p:blipFill>
          <a:blip r:embed="rId2"/>
          <a:stretch>
            <a:fillRect/>
          </a:stretch>
        </p:blipFill>
        <p:spPr>
          <a:xfrm>
            <a:off x="3761176" y="1285693"/>
            <a:ext cx="4025974" cy="1696660"/>
          </a:xfrm>
          <a:prstGeom prst="rect">
            <a:avLst/>
          </a:prstGeom>
        </p:spPr>
      </p:pic>
      <p:sp>
        <p:nvSpPr>
          <p:cNvPr id="7" name="TextBox 6">
            <a:extLst>
              <a:ext uri="{FF2B5EF4-FFF2-40B4-BE49-F238E27FC236}">
                <a16:creationId xmlns:a16="http://schemas.microsoft.com/office/drawing/2014/main" id="{3B042B14-E8DF-675E-9D7B-223AF4923FF0}"/>
              </a:ext>
            </a:extLst>
          </p:cNvPr>
          <p:cNvSpPr txBox="1"/>
          <p:nvPr/>
        </p:nvSpPr>
        <p:spPr>
          <a:xfrm>
            <a:off x="2441901" y="3261851"/>
            <a:ext cx="7308198" cy="1801519"/>
          </a:xfrm>
          <a:prstGeom prst="rect">
            <a:avLst/>
          </a:prstGeom>
          <a:noFill/>
        </p:spPr>
        <p:txBody>
          <a:bodyPr wrap="square">
            <a:spAutoFit/>
          </a:bodyPr>
          <a:lstStyle/>
          <a:p>
            <a:pPr algn="just">
              <a:lnSpc>
                <a:spcPct val="107000"/>
              </a:lnSpc>
              <a:spcAft>
                <a:spcPts val="1265"/>
              </a:spcAft>
              <a:buNone/>
            </a:pPr>
            <a:r>
              <a:rPr lang="en-IN" sz="1400" b="1" kern="100" dirty="0">
                <a:solidFill>
                  <a:srgbClr val="000000"/>
                </a:solidFill>
                <a:effectLst/>
                <a:latin typeface="Arial Rounded MT Bold" panose="020F0704030504030204" pitchFamily="34" charset="0"/>
                <a:ea typeface="Times New Roman" panose="02020603050405020304" pitchFamily="18" charset="0"/>
              </a:rPr>
              <a:t>project report submitted in partial fulfilment of the requirements for the Course  </a:t>
            </a:r>
            <a:endParaRPr lang="en-IN" sz="1400" b="1" kern="100" dirty="0">
              <a:solidFill>
                <a:srgbClr val="000000"/>
              </a:solidFill>
              <a:effectLst/>
              <a:latin typeface="Arial Rounded MT Bold" panose="020F0704030504030204" pitchFamily="34" charset="0"/>
              <a:ea typeface="Calibri" panose="020F0502020204030204" pitchFamily="34" charset="0"/>
            </a:endParaRPr>
          </a:p>
          <a:p>
            <a:pPr marL="1902460" indent="-6350" algn="just">
              <a:lnSpc>
                <a:spcPct val="110000"/>
              </a:lnSpc>
              <a:spcAft>
                <a:spcPts val="2420"/>
              </a:spcAft>
              <a:buNone/>
            </a:pPr>
            <a:r>
              <a:rPr lang="en-IN" sz="1400" b="1" kern="100" dirty="0">
                <a:solidFill>
                  <a:srgbClr val="000000"/>
                </a:solidFill>
                <a:effectLst/>
                <a:latin typeface="Arial Rounded MT Bold" panose="020F0704030504030204" pitchFamily="34" charset="0"/>
                <a:ea typeface="Times New Roman" panose="02020603050405020304" pitchFamily="18" charset="0"/>
              </a:rPr>
              <a:t>          MACHINE LEARNING  </a:t>
            </a:r>
            <a:endParaRPr lang="en-IN" sz="1400" b="1" kern="100" dirty="0">
              <a:solidFill>
                <a:srgbClr val="000000"/>
              </a:solidFill>
              <a:effectLst/>
              <a:latin typeface="Arial Rounded MT Bold" panose="020F0704030504030204" pitchFamily="34" charset="0"/>
              <a:ea typeface="Calibri" panose="020F0502020204030204" pitchFamily="34" charset="0"/>
            </a:endParaRPr>
          </a:p>
          <a:p>
            <a:pPr algn="just">
              <a:lnSpc>
                <a:spcPct val="110000"/>
              </a:lnSpc>
              <a:spcAft>
                <a:spcPts val="2420"/>
              </a:spcAft>
              <a:buNone/>
            </a:pPr>
            <a:r>
              <a:rPr lang="en-IN" sz="1400" b="1" kern="100" dirty="0">
                <a:solidFill>
                  <a:srgbClr val="000000"/>
                </a:solidFill>
                <a:effectLst/>
                <a:latin typeface="Arial Rounded MT Bold" panose="020F0704030504030204" pitchFamily="34" charset="0"/>
                <a:ea typeface="Times New Roman" panose="02020603050405020304" pitchFamily="18" charset="0"/>
              </a:rPr>
              <a:t>                                              BACHELOR OF TECHNOLOGY  </a:t>
            </a:r>
            <a:endParaRPr lang="en-IN" sz="1400" b="1" kern="100" dirty="0">
              <a:solidFill>
                <a:srgbClr val="000000"/>
              </a:solidFill>
              <a:effectLst/>
              <a:latin typeface="Arial Rounded MT Bold" panose="020F0704030504030204" pitchFamily="34" charset="0"/>
              <a:ea typeface="Calibri" panose="020F0502020204030204" pitchFamily="34" charset="0"/>
            </a:endParaRPr>
          </a:p>
          <a:p>
            <a:pPr marL="6350" marR="548640" indent="-6350" algn="just">
              <a:lnSpc>
                <a:spcPct val="110000"/>
              </a:lnSpc>
              <a:spcAft>
                <a:spcPts val="1805"/>
              </a:spcAft>
              <a:buNone/>
            </a:pPr>
            <a:r>
              <a:rPr lang="en-IN" sz="1400" b="1" kern="100" dirty="0">
                <a:solidFill>
                  <a:srgbClr val="000000"/>
                </a:solidFill>
                <a:effectLst/>
                <a:latin typeface="Arial Rounded MT Bold" panose="020F0704030504030204" pitchFamily="34" charset="0"/>
                <a:ea typeface="Times New Roman" panose="02020603050405020304" pitchFamily="18" charset="0"/>
              </a:rPr>
              <a:t>                                                              A.Y.: 2026-27 </a:t>
            </a:r>
            <a:endParaRPr lang="en-IN" dirty="0"/>
          </a:p>
        </p:txBody>
      </p:sp>
    </p:spTree>
    <p:extLst>
      <p:ext uri="{BB962C8B-B14F-4D97-AF65-F5344CB8AC3E}">
        <p14:creationId xmlns:p14="http://schemas.microsoft.com/office/powerpoint/2010/main" val="201708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2213AC-D4E8-F8A3-CD05-D571C67FDC3B}"/>
              </a:ext>
            </a:extLst>
          </p:cNvPr>
          <p:cNvSpPr txBox="1"/>
          <p:nvPr/>
        </p:nvSpPr>
        <p:spPr>
          <a:xfrm>
            <a:off x="0" y="855672"/>
            <a:ext cx="12083845" cy="4605300"/>
          </a:xfrm>
          <a:prstGeom prst="rect">
            <a:avLst/>
          </a:prstGeom>
          <a:noFill/>
        </p:spPr>
        <p:txBody>
          <a:bodyPr wrap="square">
            <a:spAutoFit/>
          </a:bodyPr>
          <a:lstStyle/>
          <a:p>
            <a:pPr marL="6350" marR="544830" indent="-6350" algn="just">
              <a:lnSpc>
                <a:spcPct val="110000"/>
              </a:lnSpc>
              <a:spcAft>
                <a:spcPts val="650"/>
              </a:spcAft>
              <a:buNone/>
            </a:pPr>
            <a:r>
              <a:rPr lang="en-IN" sz="1400" kern="100" dirty="0">
                <a:solidFill>
                  <a:srgbClr val="000000"/>
                </a:solidFill>
                <a:effectLst/>
                <a:latin typeface="Times New Roman" panose="02020603050405020304" pitchFamily="18" charset="0"/>
                <a:ea typeface="Times New Roman" panose="02020603050405020304" pitchFamily="18" charset="0"/>
              </a:rPr>
              <a:t>                                                                                                              </a:t>
            </a:r>
            <a:r>
              <a:rPr lang="en-IN" sz="2000" b="1" kern="100" dirty="0">
                <a:solidFill>
                  <a:srgbClr val="000000"/>
                </a:solidFill>
                <a:effectLst/>
                <a:latin typeface="Arial Rounded MT Bold" panose="020F0704030504030204" pitchFamily="34" charset="0"/>
                <a:ea typeface="Times New Roman" panose="02020603050405020304" pitchFamily="18" charset="0"/>
              </a:rPr>
              <a:t>A PROJECT TITLE </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marL="6350" marR="545465" indent="-6350" algn="just">
              <a:lnSpc>
                <a:spcPct val="110000"/>
              </a:lnSpc>
              <a:spcAft>
                <a:spcPts val="650"/>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ON </a:t>
            </a:r>
          </a:p>
          <a:p>
            <a:pPr algn="just">
              <a:lnSpc>
                <a:spcPct val="107000"/>
              </a:lnSpc>
              <a:spcAft>
                <a:spcPts val="126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Plant Disease Detection Using CNN and Transfer Learning</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marL="6350" marR="544195" indent="-6350" algn="just">
              <a:lnSpc>
                <a:spcPct val="110000"/>
              </a:lnSpc>
              <a:spcAft>
                <a:spcPts val="125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by  </a:t>
            </a:r>
          </a:p>
          <a:p>
            <a:pPr algn="just">
              <a:lnSpc>
                <a:spcPct val="107000"/>
              </a:lnSpc>
              <a:spcAft>
                <a:spcPts val="126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a:t>
            </a:r>
            <a:r>
              <a:rPr lang="en-IN" sz="2000" b="1" kern="100" dirty="0" err="1">
                <a:solidFill>
                  <a:srgbClr val="000000"/>
                </a:solidFill>
                <a:effectLst/>
                <a:latin typeface="Arial Rounded MT Bold" panose="020F0704030504030204" pitchFamily="34" charset="0"/>
                <a:ea typeface="Times New Roman" panose="02020603050405020304" pitchFamily="18" charset="0"/>
              </a:rPr>
              <a:t>K.Mrudula</a:t>
            </a:r>
            <a:r>
              <a:rPr lang="en-IN" sz="2000" b="1" kern="100" dirty="0">
                <a:solidFill>
                  <a:srgbClr val="000000"/>
                </a:solidFill>
                <a:effectLst/>
                <a:latin typeface="Arial Rounded MT Bold" panose="020F0704030504030204" pitchFamily="34" charset="0"/>
                <a:ea typeface="Times New Roman" panose="02020603050405020304" pitchFamily="18" charset="0"/>
              </a:rPr>
              <a:t>(2520090073)</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algn="just">
              <a:lnSpc>
                <a:spcPct val="107000"/>
              </a:lnSpc>
              <a:spcAft>
                <a:spcPts val="126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a:t>
            </a:r>
            <a:r>
              <a:rPr lang="en-IN" sz="2000" b="1" kern="100" dirty="0" err="1">
                <a:solidFill>
                  <a:srgbClr val="000000"/>
                </a:solidFill>
                <a:effectLst/>
                <a:latin typeface="Arial Rounded MT Bold" panose="020F0704030504030204" pitchFamily="34" charset="0"/>
                <a:ea typeface="Times New Roman" panose="02020603050405020304" pitchFamily="18" charset="0"/>
              </a:rPr>
              <a:t>B.Navya</a:t>
            </a:r>
            <a:r>
              <a:rPr lang="en-IN" sz="2000" b="1" kern="100" dirty="0">
                <a:solidFill>
                  <a:srgbClr val="000000"/>
                </a:solidFill>
                <a:effectLst/>
                <a:latin typeface="Arial Rounded MT Bold" panose="020F0704030504030204" pitchFamily="34" charset="0"/>
                <a:ea typeface="Times New Roman" panose="02020603050405020304" pitchFamily="18" charset="0"/>
              </a:rPr>
              <a:t>(2520090189)</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marL="1845945" indent="-6350" algn="just">
              <a:lnSpc>
                <a:spcPct val="107000"/>
              </a:lnSpc>
              <a:spcAft>
                <a:spcPts val="68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Under the Esteemed guidance of  </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marR="548005" algn="just">
              <a:lnSpc>
                <a:spcPct val="107000"/>
              </a:lnSpc>
              <a:spcAft>
                <a:spcPts val="675"/>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a:t>
            </a:r>
            <a:r>
              <a:rPr lang="en-IN" sz="2000" b="1" dirty="0">
                <a:latin typeface="Arial Rounded MT Bold" panose="020F0704030504030204" pitchFamily="34" charset="0"/>
              </a:rPr>
              <a:t>Ms. Sowmya</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marL="2099945" algn="just">
              <a:lnSpc>
                <a:spcPct val="107000"/>
              </a:lnSpc>
              <a:spcAft>
                <a:spcPts val="1450"/>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Assistant Professor, CSIT</a:t>
            </a:r>
            <a:endParaRPr lang="en-IN" sz="2000" b="1" kern="100" dirty="0">
              <a:solidFill>
                <a:srgbClr val="000000"/>
              </a:solidFill>
              <a:effectLst/>
              <a:latin typeface="Arial Rounded MT Bold" panose="020F0704030504030204" pitchFamily="34" charset="0"/>
              <a:ea typeface="Calibri" panose="020F0502020204030204" pitchFamily="34" charset="0"/>
            </a:endParaRPr>
          </a:p>
          <a:p>
            <a:pPr algn="just">
              <a:lnSpc>
                <a:spcPct val="107000"/>
              </a:lnSpc>
              <a:spcAft>
                <a:spcPts val="300"/>
              </a:spcAft>
              <a:buNone/>
            </a:pPr>
            <a:r>
              <a:rPr lang="en-IN" sz="2000" b="1" kern="100" dirty="0">
                <a:solidFill>
                  <a:srgbClr val="000000"/>
                </a:solidFill>
                <a:effectLst/>
                <a:latin typeface="Arial Rounded MT Bold" panose="020F0704030504030204" pitchFamily="34" charset="0"/>
                <a:ea typeface="Times New Roman" panose="02020603050405020304" pitchFamily="18" charset="0"/>
              </a:rPr>
              <a:t>                                                  Computer Science &amp; Information Technology</a:t>
            </a:r>
            <a:endParaRPr lang="en-IN" sz="2000" b="1" kern="100" dirty="0">
              <a:solidFill>
                <a:srgbClr val="000000"/>
              </a:solidFill>
              <a:effectLst/>
              <a:latin typeface="Arial Rounded MT Bold" panose="020F0704030504030204" pitchFamily="34" charset="0"/>
              <a:ea typeface="Calibri" panose="020F0502020204030204" pitchFamily="34" charset="0"/>
            </a:endParaRPr>
          </a:p>
        </p:txBody>
      </p:sp>
    </p:spTree>
    <p:extLst>
      <p:ext uri="{BB962C8B-B14F-4D97-AF65-F5344CB8AC3E}">
        <p14:creationId xmlns:p14="http://schemas.microsoft.com/office/powerpoint/2010/main" val="1126341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C51F7-E65E-68F7-DBBA-84F1CF1FF33E}"/>
              </a:ext>
            </a:extLst>
          </p:cNvPr>
          <p:cNvSpPr txBox="1"/>
          <p:nvPr/>
        </p:nvSpPr>
        <p:spPr>
          <a:xfrm>
            <a:off x="4011561" y="298396"/>
            <a:ext cx="4375355" cy="707886"/>
          </a:xfrm>
          <a:prstGeom prst="rect">
            <a:avLst/>
          </a:prstGeom>
          <a:noFill/>
        </p:spPr>
        <p:txBody>
          <a:bodyPr wrap="square">
            <a:spAutoFit/>
          </a:bodyPr>
          <a:lstStyle/>
          <a:p>
            <a:r>
              <a:rPr lang="en-IN" sz="4000" b="1" dirty="0">
                <a:solidFill>
                  <a:srgbClr val="000000"/>
                </a:solidFill>
                <a:effectLst/>
                <a:latin typeface="Aptos" panose="020B0004020202020204" pitchFamily="34" charset="0"/>
                <a:ea typeface="Times New Roman" panose="02020603050405020304" pitchFamily="18" charset="0"/>
              </a:rPr>
              <a:t>INTRODUCTION</a:t>
            </a:r>
            <a:endParaRPr lang="en-IN" sz="4000" dirty="0">
              <a:latin typeface="Aptos" panose="020B0004020202020204" pitchFamily="34" charset="0"/>
            </a:endParaRPr>
          </a:p>
        </p:txBody>
      </p:sp>
      <p:sp>
        <p:nvSpPr>
          <p:cNvPr id="5" name="TextBox 4">
            <a:extLst>
              <a:ext uri="{FF2B5EF4-FFF2-40B4-BE49-F238E27FC236}">
                <a16:creationId xmlns:a16="http://schemas.microsoft.com/office/drawing/2014/main" id="{56DE87E7-66F9-EAA0-77A0-3BFC762DBAB6}"/>
              </a:ext>
            </a:extLst>
          </p:cNvPr>
          <p:cNvSpPr txBox="1"/>
          <p:nvPr/>
        </p:nvSpPr>
        <p:spPr>
          <a:xfrm>
            <a:off x="658762" y="2068719"/>
            <a:ext cx="6096000" cy="3337709"/>
          </a:xfrm>
          <a:prstGeom prst="rect">
            <a:avLst/>
          </a:prstGeom>
          <a:noFill/>
        </p:spPr>
        <p:txBody>
          <a:bodyPr wrap="square">
            <a:spAutoFit/>
          </a:bodyPr>
          <a:lstStyle/>
          <a:p>
            <a:pPr algn="just">
              <a:lnSpc>
                <a:spcPct val="107000"/>
              </a:lnSpc>
              <a:spcAft>
                <a:spcPts val="795"/>
              </a:spcAft>
              <a:buNone/>
            </a:pPr>
            <a:r>
              <a:rPr lang="en-IN" kern="100" dirty="0">
                <a:solidFill>
                  <a:srgbClr val="000000"/>
                </a:solidFill>
                <a:effectLst/>
                <a:latin typeface="Times New Roman" panose="02020603050405020304" pitchFamily="18" charset="0"/>
                <a:ea typeface="Times New Roman" panose="02020603050405020304" pitchFamily="18" charset="0"/>
              </a:rPr>
              <a:t>Agriculture plays a vital role in the economy, and plant diseases significantly affect crop production. Traditional disease detection methods require expert knowledge and are often time-consuming. With advancements in Artificial Intelligence and Deep Learning, automatic plant disease detection has become more efficient. CNN models can automatically extract image features, while Transfer Learning uses pre-trained models to achieve high accuracy with less training data. This project develops an intelligent system that detects plant diseases from leaf images quickly and accurately, helping farmers take timely action to improve crop health and productivity.</a:t>
            </a:r>
            <a:endParaRPr lang="en-IN" kern="100" dirty="0">
              <a:solidFill>
                <a:srgbClr val="000000"/>
              </a:solidFill>
              <a:effectLst/>
              <a:latin typeface="Calibri" panose="020F0502020204030204" pitchFamily="34" charset="0"/>
              <a:ea typeface="Calibri" panose="020F0502020204030204" pitchFamily="34" charset="0"/>
            </a:endParaRPr>
          </a:p>
        </p:txBody>
      </p:sp>
      <p:pic>
        <p:nvPicPr>
          <p:cNvPr id="7" name="Picture 6">
            <a:extLst>
              <a:ext uri="{FF2B5EF4-FFF2-40B4-BE49-F238E27FC236}">
                <a16:creationId xmlns:a16="http://schemas.microsoft.com/office/drawing/2014/main" id="{C064AC00-945F-5541-1A96-EB51370E9544}"/>
              </a:ext>
            </a:extLst>
          </p:cNvPr>
          <p:cNvPicPr>
            <a:picLocks noChangeAspect="1"/>
          </p:cNvPicPr>
          <p:nvPr/>
        </p:nvPicPr>
        <p:blipFill>
          <a:blip r:embed="rId2"/>
          <a:stretch>
            <a:fillRect/>
          </a:stretch>
        </p:blipFill>
        <p:spPr>
          <a:xfrm>
            <a:off x="7207542" y="1539425"/>
            <a:ext cx="4325696" cy="3723137"/>
          </a:xfrm>
          <a:prstGeom prst="rect">
            <a:avLst/>
          </a:prstGeom>
          <a:ln>
            <a:noFill/>
          </a:ln>
          <a:effectLst>
            <a:softEdge rad="112500"/>
          </a:effectLst>
        </p:spPr>
      </p:pic>
    </p:spTree>
    <p:extLst>
      <p:ext uri="{BB962C8B-B14F-4D97-AF65-F5344CB8AC3E}">
        <p14:creationId xmlns:p14="http://schemas.microsoft.com/office/powerpoint/2010/main" val="165789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502920" y="621792"/>
            <a:ext cx="11155680" cy="680186"/>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lang="en-IN" dirty="0"/>
              <a:t>                                               </a:t>
            </a:r>
            <a:r>
              <a:rPr sz="4000" dirty="0">
                <a:latin typeface="Aptos" panose="020B0004020202020204" pitchFamily="34" charset="0"/>
              </a:rPr>
              <a:t>Problem Statement</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148840"/>
            <a:ext cx="10698480" cy="4480560"/>
          </a:xfrm>
          <a:prstGeom prst="rect">
            <a:avLst/>
          </a:prstGeom>
          <a:noFill/>
        </p:spPr>
        <p:txBody>
          <a:bodyPr wrap="square" lIns="73152" rIns="73152">
            <a:spAutoFit/>
          </a:bodyPr>
          <a:lstStyle/>
          <a:p>
            <a:pPr>
              <a:spcAft>
                <a:spcPts val="1300"/>
              </a:spcAft>
              <a:defRPr sz="2000">
                <a:solidFill>
                  <a:srgbClr val="23312D"/>
                </a:solidFill>
                <a:latin typeface="Aptos"/>
              </a:defRPr>
            </a:pPr>
            <a:r>
              <a:rPr dirty="0"/>
              <a:t>•  Plant diseases can damage leaves, reduce crop quality, and lower agricultural productivity.</a:t>
            </a:r>
          </a:p>
          <a:p>
            <a:pPr>
              <a:spcAft>
                <a:spcPts val="1300"/>
              </a:spcAft>
              <a:defRPr sz="2000">
                <a:solidFill>
                  <a:srgbClr val="23312D"/>
                </a:solidFill>
                <a:latin typeface="Aptos"/>
              </a:defRPr>
            </a:pPr>
            <a:r>
              <a:rPr dirty="0"/>
              <a:t>•  Manual inspection takes time and may require an experienced agricultural specialist.</a:t>
            </a:r>
          </a:p>
          <a:p>
            <a:pPr>
              <a:spcAft>
                <a:spcPts val="1300"/>
              </a:spcAft>
              <a:defRPr sz="2000">
                <a:solidFill>
                  <a:srgbClr val="23312D"/>
                </a:solidFill>
                <a:latin typeface="Aptos"/>
              </a:defRPr>
            </a:pPr>
            <a:r>
              <a:rPr dirty="0"/>
              <a:t>•  Disease symptoms can look similar, making visual identification difficult for non-experts.</a:t>
            </a:r>
          </a:p>
          <a:p>
            <a:pPr>
              <a:spcAft>
                <a:spcPts val="1300"/>
              </a:spcAft>
              <a:defRPr sz="2000">
                <a:solidFill>
                  <a:srgbClr val="23312D"/>
                </a:solidFill>
                <a:latin typeface="Aptos"/>
              </a:defRPr>
            </a:pPr>
            <a:r>
              <a:rPr dirty="0"/>
              <a:t>•  The project aims to classify a plant-leaf image into a learned healthy/disease category using deep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796727" y="383825"/>
            <a:ext cx="3920809" cy="803297"/>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800" dirty="0">
                <a:latin typeface="Aptos" panose="020B0004020202020204" pitchFamily="34" charset="0"/>
              </a:rPr>
              <a:t>Motivation</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600200"/>
            <a:ext cx="3520440" cy="182880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3152" cy="182880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Early identification</a:t>
            </a:r>
          </a:p>
        </p:txBody>
      </p:sp>
      <p:sp>
        <p:nvSpPr>
          <p:cNvPr id="11" name="TextBox 10"/>
          <p:cNvSpPr txBox="1"/>
          <p:nvPr/>
        </p:nvSpPr>
        <p:spPr>
          <a:xfrm>
            <a:off x="841247" y="2221992"/>
            <a:ext cx="3154680" cy="111556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Recognizing possible disease symptoms sooner can help users seek suitable advice and take timely action.</a:t>
            </a:r>
          </a:p>
        </p:txBody>
      </p:sp>
      <p:sp>
        <p:nvSpPr>
          <p:cNvPr id="12" name="Rounded Rectangle 11"/>
          <p:cNvSpPr/>
          <p:nvPr/>
        </p:nvSpPr>
        <p:spPr>
          <a:xfrm>
            <a:off x="4343400" y="1600200"/>
            <a:ext cx="3520440" cy="182880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600200"/>
            <a:ext cx="73152" cy="182880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AI for agriculture</a:t>
            </a:r>
          </a:p>
        </p:txBody>
      </p:sp>
      <p:sp>
        <p:nvSpPr>
          <p:cNvPr id="15" name="TextBox 14"/>
          <p:cNvSpPr txBox="1"/>
          <p:nvPr/>
        </p:nvSpPr>
        <p:spPr>
          <a:xfrm>
            <a:off x="4544568" y="2221992"/>
            <a:ext cx="3154680" cy="111556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Computer vision can support image-based screening and reduce dependence on repeated manual checks.</a:t>
            </a:r>
          </a:p>
        </p:txBody>
      </p:sp>
      <p:sp>
        <p:nvSpPr>
          <p:cNvPr id="16" name="Rounded Rectangle 15"/>
          <p:cNvSpPr/>
          <p:nvPr/>
        </p:nvSpPr>
        <p:spPr>
          <a:xfrm>
            <a:off x="8046720" y="1600200"/>
            <a:ext cx="3520440" cy="182880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600200"/>
            <a:ext cx="73152" cy="182880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Practical access</a:t>
            </a:r>
          </a:p>
        </p:txBody>
      </p:sp>
      <p:sp>
        <p:nvSpPr>
          <p:cNvPr id="19" name="TextBox 18"/>
          <p:cNvSpPr txBox="1"/>
          <p:nvPr/>
        </p:nvSpPr>
        <p:spPr>
          <a:xfrm>
            <a:off x="8247888" y="2221992"/>
            <a:ext cx="3154680" cy="111556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A future web or mobile interface could make image-based assistance easier to access.</a:t>
            </a:r>
          </a:p>
        </p:txBody>
      </p:sp>
      <p:sp>
        <p:nvSpPr>
          <p:cNvPr id="20" name="TextBox 19"/>
          <p:cNvSpPr txBox="1"/>
          <p:nvPr/>
        </p:nvSpPr>
        <p:spPr>
          <a:xfrm>
            <a:off x="777240" y="4361688"/>
            <a:ext cx="10607040" cy="710964"/>
          </a:xfrm>
          <a:prstGeom prst="rect">
            <a:avLst/>
          </a:prstGeom>
          <a:noFill/>
        </p:spPr>
        <p:txBody>
          <a:bodyPr wrap="square" lIns="54864" tIns="36576" rIns="54864" bIns="27432">
            <a:spAutoFit/>
          </a:bodyPr>
          <a:lstStyle/>
          <a:p>
            <a:pPr algn="ctr">
              <a:spcAft>
                <a:spcPts val="800"/>
              </a:spcAft>
              <a:defRPr sz="2100" b="1">
                <a:solidFill>
                  <a:srgbClr val="2A7653"/>
                </a:solidFill>
                <a:latin typeface="Aptos"/>
              </a:defRPr>
            </a:pPr>
            <a:r>
              <a:rPr dirty="0"/>
              <a:t>Project motivation: explore how CNN feature learning and transfer learning can be applied to a real-world agricultural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845887" y="603456"/>
            <a:ext cx="3400486"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latin typeface="Aptos" panose="020B0004020202020204" pitchFamily="34" charset="0"/>
              </a:rPr>
              <a:t>Objectives</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197" y="2157690"/>
            <a:ext cx="10698480" cy="4480560"/>
          </a:xfrm>
          <a:prstGeom prst="rect">
            <a:avLst/>
          </a:prstGeom>
          <a:noFill/>
        </p:spPr>
        <p:txBody>
          <a:bodyPr wrap="square" lIns="73152" rIns="73152">
            <a:spAutoFit/>
          </a:bodyPr>
          <a:lstStyle/>
          <a:p>
            <a:pPr>
              <a:spcAft>
                <a:spcPts val="1300"/>
              </a:spcAft>
              <a:defRPr sz="1900">
                <a:solidFill>
                  <a:srgbClr val="23312D"/>
                </a:solidFill>
                <a:latin typeface="Aptos"/>
              </a:defRPr>
            </a:pPr>
            <a:r>
              <a:rPr dirty="0"/>
              <a:t>•  Prepare and preprocess a labeled plant-leaf image dataset.</a:t>
            </a:r>
          </a:p>
          <a:p>
            <a:pPr>
              <a:spcAft>
                <a:spcPts val="1300"/>
              </a:spcAft>
              <a:defRPr sz="1900">
                <a:solidFill>
                  <a:srgbClr val="23312D"/>
                </a:solidFill>
                <a:latin typeface="Aptos"/>
              </a:defRPr>
            </a:pPr>
            <a:r>
              <a:rPr dirty="0"/>
              <a:t>•  Use a Convolutional Neural Network (CNN) with a pre-trained transfer-learning model.</a:t>
            </a:r>
          </a:p>
          <a:p>
            <a:pPr>
              <a:spcAft>
                <a:spcPts val="1300"/>
              </a:spcAft>
              <a:defRPr sz="1900">
                <a:solidFill>
                  <a:srgbClr val="23312D"/>
                </a:solidFill>
                <a:latin typeface="Aptos"/>
              </a:defRPr>
            </a:pPr>
            <a:r>
              <a:rPr dirty="0"/>
              <a:t>•  Train or fine-tune the model to distinguish the dataset’s plant-disease classes.</a:t>
            </a:r>
          </a:p>
          <a:p>
            <a:pPr>
              <a:spcAft>
                <a:spcPts val="1300"/>
              </a:spcAft>
              <a:defRPr sz="1900">
                <a:solidFill>
                  <a:srgbClr val="23312D"/>
                </a:solidFill>
                <a:latin typeface="Aptos"/>
              </a:defRPr>
            </a:pPr>
            <a:r>
              <a:rPr dirty="0"/>
              <a:t>•  Evaluate the trained model using suitable classification metrics.</a:t>
            </a:r>
          </a:p>
          <a:p>
            <a:pPr>
              <a:spcAft>
                <a:spcPts val="1300"/>
              </a:spcAft>
              <a:defRPr sz="1900">
                <a:solidFill>
                  <a:srgbClr val="23312D"/>
                </a:solidFill>
                <a:latin typeface="Aptos"/>
              </a:defRPr>
            </a:pPr>
            <a:r>
              <a:rPr dirty="0"/>
              <a:t>•  Provide a simple path for users to submit a leaf image and view the predicted class.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1554972" y="438373"/>
            <a:ext cx="11155680"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latin typeface="Aptos" panose="020B0004020202020204" pitchFamily="34" charset="0"/>
              </a:rPr>
              <a:t>Existing System and Its Limitations</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600200"/>
            <a:ext cx="5212080" cy="338328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600200"/>
            <a:ext cx="73152" cy="338328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2244852"/>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Common approach</a:t>
            </a:r>
          </a:p>
        </p:txBody>
      </p:sp>
      <p:sp>
        <p:nvSpPr>
          <p:cNvPr id="11" name="TextBox 10"/>
          <p:cNvSpPr txBox="1"/>
          <p:nvPr/>
        </p:nvSpPr>
        <p:spPr>
          <a:xfrm>
            <a:off x="807720" y="2852928"/>
            <a:ext cx="4846320" cy="267004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 Visual inspection by farmers or experts</a:t>
            </a:r>
          </a:p>
          <a:p>
            <a:pPr>
              <a:spcAft>
                <a:spcPts val="800"/>
              </a:spcAft>
              <a:defRPr sz="1300" b="0">
                <a:solidFill>
                  <a:srgbClr val="23312D"/>
                </a:solidFill>
                <a:latin typeface="Aptos"/>
              </a:defRPr>
            </a:pPr>
            <a:r>
              <a:t>• Consultation with agricultural specialists</a:t>
            </a:r>
          </a:p>
          <a:p>
            <a:pPr>
              <a:spcAft>
                <a:spcPts val="800"/>
              </a:spcAft>
              <a:defRPr sz="1300" b="0">
                <a:solidFill>
                  <a:srgbClr val="23312D"/>
                </a:solidFill>
                <a:latin typeface="Aptos"/>
              </a:defRPr>
            </a:pPr>
            <a:r>
              <a:t>• Manual comparison with disease references</a:t>
            </a:r>
          </a:p>
        </p:txBody>
      </p:sp>
      <p:sp>
        <p:nvSpPr>
          <p:cNvPr id="12" name="Rounded Rectangle 11"/>
          <p:cNvSpPr/>
          <p:nvPr/>
        </p:nvSpPr>
        <p:spPr>
          <a:xfrm>
            <a:off x="6172200" y="1600200"/>
            <a:ext cx="5212080" cy="338328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600200"/>
            <a:ext cx="73152" cy="338328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2139696"/>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rPr dirty="0"/>
              <a:t>Limitations</a:t>
            </a:r>
          </a:p>
        </p:txBody>
      </p:sp>
      <p:sp>
        <p:nvSpPr>
          <p:cNvPr id="15" name="TextBox 14"/>
          <p:cNvSpPr txBox="1"/>
          <p:nvPr/>
        </p:nvSpPr>
        <p:spPr>
          <a:xfrm>
            <a:off x="6355080" y="2679192"/>
            <a:ext cx="4846320" cy="267004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rPr dirty="0"/>
              <a:t>• Can be time-consuming</a:t>
            </a:r>
          </a:p>
          <a:p>
            <a:pPr>
              <a:spcAft>
                <a:spcPts val="800"/>
              </a:spcAft>
              <a:defRPr sz="1300" b="0">
                <a:solidFill>
                  <a:srgbClr val="23312D"/>
                </a:solidFill>
                <a:latin typeface="Aptos"/>
              </a:defRPr>
            </a:pPr>
            <a:r>
              <a:rPr dirty="0"/>
              <a:t>• Depends on experience and image conditions</a:t>
            </a:r>
          </a:p>
          <a:p>
            <a:pPr>
              <a:spcAft>
                <a:spcPts val="800"/>
              </a:spcAft>
              <a:defRPr sz="1300" b="0">
                <a:solidFill>
                  <a:srgbClr val="23312D"/>
                </a:solidFill>
                <a:latin typeface="Aptos"/>
              </a:defRPr>
            </a:pPr>
            <a:r>
              <a:rPr dirty="0"/>
              <a:t>• Difficult to scale frequent checks</a:t>
            </a:r>
          </a:p>
          <a:p>
            <a:pPr>
              <a:spcAft>
                <a:spcPts val="800"/>
              </a:spcAft>
              <a:defRPr sz="1300" b="0">
                <a:solidFill>
                  <a:srgbClr val="23312D"/>
                </a:solidFill>
                <a:latin typeface="Aptos"/>
              </a:defRPr>
            </a:pPr>
            <a:r>
              <a:rPr dirty="0"/>
              <a:t>• Similar symptoms may be confused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344443" y="465805"/>
            <a:ext cx="4678680"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Proposed System</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08760"/>
            <a:ext cx="10698480" cy="4480560"/>
          </a:xfrm>
          <a:prstGeom prst="rect">
            <a:avLst/>
          </a:prstGeom>
          <a:noFill/>
        </p:spPr>
        <p:txBody>
          <a:bodyPr wrap="square" lIns="73152" rIns="73152">
            <a:spAutoFit/>
          </a:bodyPr>
          <a:lstStyle/>
          <a:p>
            <a:pPr>
              <a:spcAft>
                <a:spcPts val="1300"/>
              </a:spcAft>
              <a:defRPr sz="1900">
                <a:solidFill>
                  <a:srgbClr val="23312D"/>
                </a:solidFill>
                <a:latin typeface="Aptos"/>
              </a:defRPr>
            </a:pPr>
            <a:r>
              <a:rPr dirty="0"/>
              <a:t>•  Input: a photograph of a plant leaf.</a:t>
            </a:r>
          </a:p>
          <a:p>
            <a:pPr>
              <a:spcAft>
                <a:spcPts val="1300"/>
              </a:spcAft>
              <a:defRPr sz="1900">
                <a:solidFill>
                  <a:srgbClr val="23312D"/>
                </a:solidFill>
                <a:latin typeface="Aptos"/>
              </a:defRPr>
            </a:pPr>
            <a:r>
              <a:rPr dirty="0"/>
              <a:t>•  Preprocessing: resize the image to the model input size and normalize pixel values.</a:t>
            </a:r>
          </a:p>
          <a:p>
            <a:pPr>
              <a:spcAft>
                <a:spcPts val="1300"/>
              </a:spcAft>
              <a:defRPr sz="1900">
                <a:solidFill>
                  <a:srgbClr val="23312D"/>
                </a:solidFill>
                <a:latin typeface="Aptos"/>
              </a:defRPr>
            </a:pPr>
            <a:r>
              <a:rPr dirty="0"/>
              <a:t>•  Prediction: a CNN-based transfer-learning model extracts image features and predicts a class.</a:t>
            </a:r>
          </a:p>
          <a:p>
            <a:pPr>
              <a:spcAft>
                <a:spcPts val="1300"/>
              </a:spcAft>
              <a:defRPr sz="1900">
                <a:solidFill>
                  <a:srgbClr val="23312D"/>
                </a:solidFill>
                <a:latin typeface="Aptos"/>
              </a:defRPr>
            </a:pPr>
            <a:r>
              <a:rPr dirty="0"/>
              <a:t>•  Output: display the predicted class and, if implemented, class confidence.</a:t>
            </a:r>
          </a:p>
          <a:p>
            <a:pPr>
              <a:spcAft>
                <a:spcPts val="1300"/>
              </a:spcAft>
              <a:defRPr sz="1900">
                <a:solidFill>
                  <a:srgbClr val="23312D"/>
                </a:solidFill>
                <a:latin typeface="Aptos"/>
              </a:defRPr>
            </a:pPr>
            <a:r>
              <a:rPr dirty="0"/>
              <a:t>•  The output is intended as decision support, not a replacement for expert diagnosis.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1740801" y="510986"/>
            <a:ext cx="9506319"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System Architecture / Block Diagram</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2240280"/>
            <a:ext cx="1874519" cy="1325880"/>
          </a:xfrm>
          <a:prstGeom prst="roundRect">
            <a:avLst/>
          </a:prstGeom>
          <a:solidFill>
            <a:srgbClr val="E2EFDC"/>
          </a:solidFill>
          <a:ln>
            <a:solidFill>
              <a:srgbClr val="2A7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487168"/>
            <a:ext cx="1691640" cy="384048"/>
          </a:xfrm>
          <a:prstGeom prst="rect">
            <a:avLst/>
          </a:prstGeom>
          <a:noFill/>
        </p:spPr>
        <p:txBody>
          <a:bodyPr wrap="square" lIns="54864" tIns="36576" rIns="54864" bIns="27432">
            <a:spAutoFit/>
          </a:bodyPr>
          <a:lstStyle/>
          <a:p>
            <a:pPr algn="ctr">
              <a:spcAft>
                <a:spcPts val="800"/>
              </a:spcAft>
              <a:defRPr sz="1300" b="1">
                <a:solidFill>
                  <a:srgbClr val="14302D"/>
                </a:solidFill>
                <a:latin typeface="Aptos"/>
              </a:defRPr>
            </a:pPr>
            <a:r>
              <a:t>1. Input Image</a:t>
            </a:r>
          </a:p>
        </p:txBody>
      </p:sp>
      <p:sp>
        <p:nvSpPr>
          <p:cNvPr id="10" name="TextBox 9"/>
          <p:cNvSpPr txBox="1"/>
          <p:nvPr/>
        </p:nvSpPr>
        <p:spPr>
          <a:xfrm>
            <a:off x="612648" y="2926080"/>
            <a:ext cx="1645920" cy="457200"/>
          </a:xfrm>
          <a:prstGeom prst="rect">
            <a:avLst/>
          </a:prstGeom>
          <a:noFill/>
        </p:spPr>
        <p:txBody>
          <a:bodyPr wrap="square" lIns="54864" tIns="36576" rIns="54864" bIns="27432">
            <a:spAutoFit/>
          </a:bodyPr>
          <a:lstStyle/>
          <a:p>
            <a:pPr algn="ctr">
              <a:spcAft>
                <a:spcPts val="800"/>
              </a:spcAft>
              <a:defRPr sz="1100" b="0">
                <a:solidFill>
                  <a:srgbClr val="23312D"/>
                </a:solidFill>
                <a:latin typeface="Aptos"/>
              </a:defRPr>
            </a:pPr>
            <a:r>
              <a:t>Plant-leaf photo</a:t>
            </a:r>
          </a:p>
        </p:txBody>
      </p:sp>
      <p:sp>
        <p:nvSpPr>
          <p:cNvPr id="11" name="TextBox 10"/>
          <p:cNvSpPr txBox="1"/>
          <p:nvPr/>
        </p:nvSpPr>
        <p:spPr>
          <a:xfrm>
            <a:off x="2386584" y="2615184"/>
            <a:ext cx="411480" cy="365760"/>
          </a:xfrm>
          <a:prstGeom prst="rect">
            <a:avLst/>
          </a:prstGeom>
          <a:noFill/>
        </p:spPr>
        <p:txBody>
          <a:bodyPr wrap="square" lIns="54864" tIns="36576" rIns="54864" bIns="27432">
            <a:spAutoFit/>
          </a:bodyPr>
          <a:lstStyle/>
          <a:p>
            <a:pPr algn="ctr">
              <a:spcAft>
                <a:spcPts val="800"/>
              </a:spcAft>
              <a:defRPr sz="2000" b="1">
                <a:solidFill>
                  <a:srgbClr val="2A7653"/>
                </a:solidFill>
                <a:latin typeface="Aptos"/>
              </a:defRPr>
            </a:pPr>
            <a:r>
              <a:t>➜</a:t>
            </a:r>
          </a:p>
        </p:txBody>
      </p:sp>
      <p:sp>
        <p:nvSpPr>
          <p:cNvPr id="12" name="Rounded Rectangle 11"/>
          <p:cNvSpPr/>
          <p:nvPr/>
        </p:nvSpPr>
        <p:spPr>
          <a:xfrm>
            <a:off x="2834640" y="2240280"/>
            <a:ext cx="1874519" cy="1325880"/>
          </a:xfrm>
          <a:prstGeom prst="roundRect">
            <a:avLst/>
          </a:prstGeom>
          <a:solidFill>
            <a:srgbClr val="FFFFFF"/>
          </a:solidFill>
          <a:ln>
            <a:solidFill>
              <a:srgbClr val="2A7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2487168"/>
            <a:ext cx="1691640" cy="384048"/>
          </a:xfrm>
          <a:prstGeom prst="rect">
            <a:avLst/>
          </a:prstGeom>
          <a:noFill/>
        </p:spPr>
        <p:txBody>
          <a:bodyPr wrap="square" lIns="54864" tIns="36576" rIns="54864" bIns="27432">
            <a:spAutoFit/>
          </a:bodyPr>
          <a:lstStyle/>
          <a:p>
            <a:pPr algn="ctr">
              <a:spcAft>
                <a:spcPts val="800"/>
              </a:spcAft>
              <a:defRPr sz="1300" b="1">
                <a:solidFill>
                  <a:srgbClr val="14302D"/>
                </a:solidFill>
                <a:latin typeface="Aptos"/>
              </a:defRPr>
            </a:pPr>
            <a:r>
              <a:t>2. Preprocessing</a:t>
            </a:r>
          </a:p>
        </p:txBody>
      </p:sp>
      <p:sp>
        <p:nvSpPr>
          <p:cNvPr id="14" name="TextBox 13"/>
          <p:cNvSpPr txBox="1"/>
          <p:nvPr/>
        </p:nvSpPr>
        <p:spPr>
          <a:xfrm>
            <a:off x="2944368" y="2926080"/>
            <a:ext cx="1645920" cy="457200"/>
          </a:xfrm>
          <a:prstGeom prst="rect">
            <a:avLst/>
          </a:prstGeom>
          <a:noFill/>
        </p:spPr>
        <p:txBody>
          <a:bodyPr wrap="square" lIns="54864" tIns="36576" rIns="54864" bIns="27432">
            <a:spAutoFit/>
          </a:bodyPr>
          <a:lstStyle/>
          <a:p>
            <a:pPr algn="ctr">
              <a:spcAft>
                <a:spcPts val="800"/>
              </a:spcAft>
              <a:defRPr sz="1100" b="0">
                <a:solidFill>
                  <a:srgbClr val="23312D"/>
                </a:solidFill>
                <a:latin typeface="Aptos"/>
              </a:defRPr>
            </a:pPr>
            <a:r>
              <a:t>Resize • normalize</a:t>
            </a:r>
          </a:p>
        </p:txBody>
      </p:sp>
      <p:sp>
        <p:nvSpPr>
          <p:cNvPr id="15" name="TextBox 14"/>
          <p:cNvSpPr txBox="1"/>
          <p:nvPr/>
        </p:nvSpPr>
        <p:spPr>
          <a:xfrm>
            <a:off x="4718304" y="2615184"/>
            <a:ext cx="411480" cy="365760"/>
          </a:xfrm>
          <a:prstGeom prst="rect">
            <a:avLst/>
          </a:prstGeom>
          <a:noFill/>
        </p:spPr>
        <p:txBody>
          <a:bodyPr wrap="square" lIns="54864" tIns="36576" rIns="54864" bIns="27432">
            <a:spAutoFit/>
          </a:bodyPr>
          <a:lstStyle/>
          <a:p>
            <a:pPr algn="ctr">
              <a:spcAft>
                <a:spcPts val="800"/>
              </a:spcAft>
              <a:defRPr sz="2000" b="1">
                <a:solidFill>
                  <a:srgbClr val="2A7653"/>
                </a:solidFill>
                <a:latin typeface="Aptos"/>
              </a:defRPr>
            </a:pPr>
            <a:r>
              <a:t>➜</a:t>
            </a:r>
          </a:p>
        </p:txBody>
      </p:sp>
      <p:sp>
        <p:nvSpPr>
          <p:cNvPr id="16" name="Rounded Rectangle 15"/>
          <p:cNvSpPr/>
          <p:nvPr/>
        </p:nvSpPr>
        <p:spPr>
          <a:xfrm>
            <a:off x="5166360" y="2240280"/>
            <a:ext cx="1874519" cy="1325880"/>
          </a:xfrm>
          <a:prstGeom prst="roundRect">
            <a:avLst/>
          </a:prstGeom>
          <a:solidFill>
            <a:srgbClr val="E2EFDC"/>
          </a:solidFill>
          <a:ln>
            <a:solidFill>
              <a:srgbClr val="2A7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57800" y="2487168"/>
            <a:ext cx="1691640" cy="384048"/>
          </a:xfrm>
          <a:prstGeom prst="rect">
            <a:avLst/>
          </a:prstGeom>
          <a:noFill/>
        </p:spPr>
        <p:txBody>
          <a:bodyPr wrap="square" lIns="54864" tIns="36576" rIns="54864" bIns="27432">
            <a:spAutoFit/>
          </a:bodyPr>
          <a:lstStyle/>
          <a:p>
            <a:pPr algn="ctr">
              <a:spcAft>
                <a:spcPts val="800"/>
              </a:spcAft>
              <a:defRPr sz="1300" b="1">
                <a:solidFill>
                  <a:srgbClr val="14302D"/>
                </a:solidFill>
                <a:latin typeface="Aptos"/>
              </a:defRPr>
            </a:pPr>
            <a:r>
              <a:t>3. CNN / Transfer Learning</a:t>
            </a:r>
          </a:p>
        </p:txBody>
      </p:sp>
      <p:sp>
        <p:nvSpPr>
          <p:cNvPr id="18" name="TextBox 17"/>
          <p:cNvSpPr txBox="1"/>
          <p:nvPr/>
        </p:nvSpPr>
        <p:spPr>
          <a:xfrm>
            <a:off x="5276088" y="2926080"/>
            <a:ext cx="1645920" cy="457200"/>
          </a:xfrm>
          <a:prstGeom prst="rect">
            <a:avLst/>
          </a:prstGeom>
          <a:noFill/>
        </p:spPr>
        <p:txBody>
          <a:bodyPr wrap="square" lIns="54864" tIns="36576" rIns="54864" bIns="27432">
            <a:spAutoFit/>
          </a:bodyPr>
          <a:lstStyle/>
          <a:p>
            <a:pPr algn="ctr">
              <a:spcAft>
                <a:spcPts val="800"/>
              </a:spcAft>
              <a:defRPr sz="1100" b="0">
                <a:solidFill>
                  <a:srgbClr val="23312D"/>
                </a:solidFill>
                <a:latin typeface="Aptos"/>
              </a:defRPr>
            </a:pPr>
            <a:r>
              <a:t>Feature extraction</a:t>
            </a:r>
          </a:p>
        </p:txBody>
      </p:sp>
      <p:sp>
        <p:nvSpPr>
          <p:cNvPr id="19" name="TextBox 18"/>
          <p:cNvSpPr txBox="1"/>
          <p:nvPr/>
        </p:nvSpPr>
        <p:spPr>
          <a:xfrm>
            <a:off x="7050024" y="2615184"/>
            <a:ext cx="411480" cy="365760"/>
          </a:xfrm>
          <a:prstGeom prst="rect">
            <a:avLst/>
          </a:prstGeom>
          <a:noFill/>
        </p:spPr>
        <p:txBody>
          <a:bodyPr wrap="square" lIns="54864" tIns="36576" rIns="54864" bIns="27432">
            <a:spAutoFit/>
          </a:bodyPr>
          <a:lstStyle/>
          <a:p>
            <a:pPr algn="ctr">
              <a:spcAft>
                <a:spcPts val="800"/>
              </a:spcAft>
              <a:defRPr sz="2000" b="1">
                <a:solidFill>
                  <a:srgbClr val="2A7653"/>
                </a:solidFill>
                <a:latin typeface="Aptos"/>
              </a:defRPr>
            </a:pPr>
            <a:r>
              <a:t>➜</a:t>
            </a:r>
          </a:p>
        </p:txBody>
      </p:sp>
      <p:sp>
        <p:nvSpPr>
          <p:cNvPr id="20" name="Rounded Rectangle 19"/>
          <p:cNvSpPr/>
          <p:nvPr/>
        </p:nvSpPr>
        <p:spPr>
          <a:xfrm>
            <a:off x="7498079" y="2240280"/>
            <a:ext cx="1874519" cy="1325880"/>
          </a:xfrm>
          <a:prstGeom prst="roundRect">
            <a:avLst/>
          </a:prstGeom>
          <a:solidFill>
            <a:srgbClr val="FFFFFF"/>
          </a:solidFill>
          <a:ln>
            <a:solidFill>
              <a:srgbClr val="2A7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19" y="2487168"/>
            <a:ext cx="1691640" cy="384048"/>
          </a:xfrm>
          <a:prstGeom prst="rect">
            <a:avLst/>
          </a:prstGeom>
          <a:noFill/>
        </p:spPr>
        <p:txBody>
          <a:bodyPr wrap="square" lIns="54864" tIns="36576" rIns="54864" bIns="27432">
            <a:spAutoFit/>
          </a:bodyPr>
          <a:lstStyle/>
          <a:p>
            <a:pPr algn="ctr">
              <a:spcAft>
                <a:spcPts val="800"/>
              </a:spcAft>
              <a:defRPr sz="1300" b="1">
                <a:solidFill>
                  <a:srgbClr val="14302D"/>
                </a:solidFill>
                <a:latin typeface="Aptos"/>
              </a:defRPr>
            </a:pPr>
            <a:r>
              <a:t>4. Classifier</a:t>
            </a:r>
          </a:p>
        </p:txBody>
      </p:sp>
      <p:sp>
        <p:nvSpPr>
          <p:cNvPr id="22" name="TextBox 21"/>
          <p:cNvSpPr txBox="1"/>
          <p:nvPr/>
        </p:nvSpPr>
        <p:spPr>
          <a:xfrm>
            <a:off x="7607807" y="2926080"/>
            <a:ext cx="1645920" cy="457200"/>
          </a:xfrm>
          <a:prstGeom prst="rect">
            <a:avLst/>
          </a:prstGeom>
          <a:noFill/>
        </p:spPr>
        <p:txBody>
          <a:bodyPr wrap="square" lIns="54864" tIns="36576" rIns="54864" bIns="27432">
            <a:spAutoFit/>
          </a:bodyPr>
          <a:lstStyle/>
          <a:p>
            <a:pPr algn="ctr">
              <a:spcAft>
                <a:spcPts val="800"/>
              </a:spcAft>
              <a:defRPr sz="1100" b="0">
                <a:solidFill>
                  <a:srgbClr val="23312D"/>
                </a:solidFill>
                <a:latin typeface="Aptos"/>
              </a:defRPr>
            </a:pPr>
            <a:r>
              <a:t>Class probabilities</a:t>
            </a:r>
          </a:p>
        </p:txBody>
      </p:sp>
      <p:sp>
        <p:nvSpPr>
          <p:cNvPr id="23" name="TextBox 22"/>
          <p:cNvSpPr txBox="1"/>
          <p:nvPr/>
        </p:nvSpPr>
        <p:spPr>
          <a:xfrm>
            <a:off x="9381744" y="2615184"/>
            <a:ext cx="411480" cy="365760"/>
          </a:xfrm>
          <a:prstGeom prst="rect">
            <a:avLst/>
          </a:prstGeom>
          <a:noFill/>
        </p:spPr>
        <p:txBody>
          <a:bodyPr wrap="square" lIns="54864" tIns="36576" rIns="54864" bIns="27432">
            <a:spAutoFit/>
          </a:bodyPr>
          <a:lstStyle/>
          <a:p>
            <a:pPr algn="ctr">
              <a:spcAft>
                <a:spcPts val="800"/>
              </a:spcAft>
              <a:defRPr sz="2000" b="1">
                <a:solidFill>
                  <a:srgbClr val="2A7653"/>
                </a:solidFill>
                <a:latin typeface="Aptos"/>
              </a:defRPr>
            </a:pPr>
            <a:r>
              <a:t>➜</a:t>
            </a:r>
          </a:p>
        </p:txBody>
      </p:sp>
      <p:sp>
        <p:nvSpPr>
          <p:cNvPr id="24" name="Rounded Rectangle 23"/>
          <p:cNvSpPr/>
          <p:nvPr/>
        </p:nvSpPr>
        <p:spPr>
          <a:xfrm>
            <a:off x="9829800" y="2240280"/>
            <a:ext cx="1874519" cy="1325880"/>
          </a:xfrm>
          <a:prstGeom prst="roundRect">
            <a:avLst/>
          </a:prstGeom>
          <a:solidFill>
            <a:srgbClr val="E2EFDC"/>
          </a:solidFill>
          <a:ln>
            <a:solidFill>
              <a:srgbClr val="2A76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21240" y="2487168"/>
            <a:ext cx="1691640" cy="384048"/>
          </a:xfrm>
          <a:prstGeom prst="rect">
            <a:avLst/>
          </a:prstGeom>
          <a:noFill/>
        </p:spPr>
        <p:txBody>
          <a:bodyPr wrap="square" lIns="54864" tIns="36576" rIns="54864" bIns="27432">
            <a:spAutoFit/>
          </a:bodyPr>
          <a:lstStyle/>
          <a:p>
            <a:pPr algn="ctr">
              <a:spcAft>
                <a:spcPts val="800"/>
              </a:spcAft>
              <a:defRPr sz="1300" b="1">
                <a:solidFill>
                  <a:srgbClr val="14302D"/>
                </a:solidFill>
                <a:latin typeface="Aptos"/>
              </a:defRPr>
            </a:pPr>
            <a:r>
              <a:t>5. Output</a:t>
            </a:r>
          </a:p>
        </p:txBody>
      </p:sp>
      <p:sp>
        <p:nvSpPr>
          <p:cNvPr id="26" name="TextBox 25"/>
          <p:cNvSpPr txBox="1"/>
          <p:nvPr/>
        </p:nvSpPr>
        <p:spPr>
          <a:xfrm>
            <a:off x="9939528" y="2926080"/>
            <a:ext cx="1645920" cy="457200"/>
          </a:xfrm>
          <a:prstGeom prst="rect">
            <a:avLst/>
          </a:prstGeom>
          <a:noFill/>
        </p:spPr>
        <p:txBody>
          <a:bodyPr wrap="square" lIns="54864" tIns="36576" rIns="54864" bIns="27432">
            <a:spAutoFit/>
          </a:bodyPr>
          <a:lstStyle/>
          <a:p>
            <a:pPr algn="ctr">
              <a:spcAft>
                <a:spcPts val="800"/>
              </a:spcAft>
              <a:defRPr sz="1100" b="0">
                <a:solidFill>
                  <a:srgbClr val="23312D"/>
                </a:solidFill>
                <a:latin typeface="Aptos"/>
              </a:defRPr>
            </a:pPr>
            <a:r>
              <a:t>Predicted class</a:t>
            </a:r>
          </a:p>
        </p:txBody>
      </p:sp>
      <p:sp>
        <p:nvSpPr>
          <p:cNvPr id="27" name="TextBox 26"/>
          <p:cNvSpPr txBox="1"/>
          <p:nvPr/>
        </p:nvSpPr>
        <p:spPr>
          <a:xfrm>
            <a:off x="1005840" y="4343400"/>
            <a:ext cx="10241280" cy="685800"/>
          </a:xfrm>
          <a:prstGeom prst="rect">
            <a:avLst/>
          </a:prstGeom>
          <a:noFill/>
        </p:spPr>
        <p:txBody>
          <a:bodyPr wrap="square" lIns="54864" tIns="36576" rIns="54864" bIns="27432">
            <a:spAutoFit/>
          </a:bodyPr>
          <a:lstStyle/>
          <a:p>
            <a:pPr algn="ctr">
              <a:spcAft>
                <a:spcPts val="800"/>
              </a:spcAft>
              <a:defRPr sz="1600" b="1">
                <a:solidFill>
                  <a:srgbClr val="5C6963"/>
                </a:solidFill>
                <a:latin typeface="Aptos"/>
              </a:defRPr>
            </a:pPr>
            <a:r>
              <a:t>Training stage: labeled images → augmentation → model training/fine-tuning → validation → saved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2925834" y="465805"/>
            <a:ext cx="6340332"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Methodology / Workflow</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2694" y="2256012"/>
            <a:ext cx="10698480" cy="4480560"/>
          </a:xfrm>
          <a:prstGeom prst="rect">
            <a:avLst/>
          </a:prstGeom>
          <a:noFill/>
        </p:spPr>
        <p:txBody>
          <a:bodyPr wrap="square" lIns="73152" rIns="73152">
            <a:spAutoFit/>
          </a:bodyPr>
          <a:lstStyle/>
          <a:p>
            <a:pPr>
              <a:spcAft>
                <a:spcPts val="1300"/>
              </a:spcAft>
              <a:defRPr sz="1700">
                <a:solidFill>
                  <a:srgbClr val="23312D"/>
                </a:solidFill>
                <a:latin typeface="Aptos"/>
              </a:defRPr>
            </a:pPr>
            <a:r>
              <a:rPr dirty="0"/>
              <a:t>•  Collect labeled leaf images from the </a:t>
            </a:r>
            <a:r>
              <a:rPr dirty="0" err="1"/>
              <a:t>PlantVillage</a:t>
            </a:r>
            <a:r>
              <a:rPr dirty="0"/>
              <a:t> dataset.</a:t>
            </a:r>
          </a:p>
          <a:p>
            <a:pPr>
              <a:spcAft>
                <a:spcPts val="1300"/>
              </a:spcAft>
              <a:defRPr sz="1700">
                <a:solidFill>
                  <a:srgbClr val="23312D"/>
                </a:solidFill>
                <a:latin typeface="Aptos"/>
              </a:defRPr>
            </a:pPr>
            <a:r>
              <a:rPr dirty="0"/>
              <a:t>•  Inspect labels and split the data into training, validation, and test sets.</a:t>
            </a:r>
          </a:p>
          <a:p>
            <a:pPr>
              <a:spcAft>
                <a:spcPts val="1300"/>
              </a:spcAft>
              <a:defRPr sz="1700">
                <a:solidFill>
                  <a:srgbClr val="23312D"/>
                </a:solidFill>
                <a:latin typeface="Aptos"/>
              </a:defRPr>
            </a:pPr>
            <a:r>
              <a:rPr dirty="0"/>
              <a:t>•  Resize images, normalize pixel values, and apply augmentation to training images.</a:t>
            </a:r>
          </a:p>
          <a:p>
            <a:pPr>
              <a:spcAft>
                <a:spcPts val="1300"/>
              </a:spcAft>
              <a:defRPr sz="1700">
                <a:solidFill>
                  <a:srgbClr val="23312D"/>
                </a:solidFill>
                <a:latin typeface="Aptos"/>
              </a:defRPr>
            </a:pPr>
            <a:r>
              <a:rPr dirty="0"/>
              <a:t>•  Load a pre-trained model such as MobileNetV2, ResNet50, or VGG16 and adapt its classification head.</a:t>
            </a:r>
          </a:p>
          <a:p>
            <a:pPr>
              <a:spcAft>
                <a:spcPts val="1300"/>
              </a:spcAft>
              <a:defRPr sz="1700">
                <a:solidFill>
                  <a:srgbClr val="23312D"/>
                </a:solidFill>
                <a:latin typeface="Aptos"/>
              </a:defRPr>
            </a:pPr>
            <a:r>
              <a:rPr dirty="0"/>
              <a:t>•  Train/fine-tune the model, validate performance, and evaluate on held-out test data.</a:t>
            </a:r>
          </a:p>
          <a:p>
            <a:pPr>
              <a:spcAft>
                <a:spcPts val="1300"/>
              </a:spcAft>
              <a:defRPr sz="1700">
                <a:solidFill>
                  <a:srgbClr val="23312D"/>
                </a:solidFill>
                <a:latin typeface="Aptos"/>
              </a:defRPr>
            </a:pPr>
            <a:r>
              <a:rPr dirty="0"/>
              <a:t>•  Use the trained model to predict the class of a new leaf image.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549543" y="333756"/>
            <a:ext cx="4698345"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Technology Stack</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600200"/>
            <a:ext cx="3520440" cy="169164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3152" cy="169164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Language &amp; environment</a:t>
            </a:r>
          </a:p>
        </p:txBody>
      </p:sp>
      <p:sp>
        <p:nvSpPr>
          <p:cNvPr id="11" name="TextBox 10"/>
          <p:cNvSpPr txBox="1"/>
          <p:nvPr/>
        </p:nvSpPr>
        <p:spPr>
          <a:xfrm>
            <a:off x="841247" y="2221992"/>
            <a:ext cx="3154680" cy="97840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Python 3.x</a:t>
            </a:r>
          </a:p>
          <a:p>
            <a:pPr>
              <a:spcAft>
                <a:spcPts val="800"/>
              </a:spcAft>
              <a:defRPr sz="1300" b="0">
                <a:solidFill>
                  <a:srgbClr val="23312D"/>
                </a:solidFill>
                <a:latin typeface="Aptos"/>
              </a:defRPr>
            </a:pPr>
            <a:r>
              <a:t>Jupyter Notebook / Google Colab / VS Code</a:t>
            </a:r>
          </a:p>
        </p:txBody>
      </p:sp>
      <p:sp>
        <p:nvSpPr>
          <p:cNvPr id="12" name="Rounded Rectangle 11"/>
          <p:cNvSpPr/>
          <p:nvPr/>
        </p:nvSpPr>
        <p:spPr>
          <a:xfrm>
            <a:off x="4343400" y="1600200"/>
            <a:ext cx="3520440" cy="169164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600200"/>
            <a:ext cx="73152" cy="169164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Deep learning</a:t>
            </a:r>
          </a:p>
        </p:txBody>
      </p:sp>
      <p:sp>
        <p:nvSpPr>
          <p:cNvPr id="15" name="TextBox 14"/>
          <p:cNvSpPr txBox="1"/>
          <p:nvPr/>
        </p:nvSpPr>
        <p:spPr>
          <a:xfrm>
            <a:off x="4544568" y="2221992"/>
            <a:ext cx="3154680" cy="97840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TensorFlow and Keras</a:t>
            </a:r>
          </a:p>
          <a:p>
            <a:pPr>
              <a:spcAft>
                <a:spcPts val="800"/>
              </a:spcAft>
              <a:defRPr sz="1300" b="0">
                <a:solidFill>
                  <a:srgbClr val="23312D"/>
                </a:solidFill>
                <a:latin typeface="Aptos"/>
              </a:defRPr>
            </a:pPr>
            <a:r>
              <a:t>CNN + transfer learning</a:t>
            </a:r>
          </a:p>
        </p:txBody>
      </p:sp>
      <p:sp>
        <p:nvSpPr>
          <p:cNvPr id="16" name="Rounded Rectangle 15"/>
          <p:cNvSpPr/>
          <p:nvPr/>
        </p:nvSpPr>
        <p:spPr>
          <a:xfrm>
            <a:off x="8046720" y="1600200"/>
            <a:ext cx="3520440" cy="169164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600200"/>
            <a:ext cx="73152" cy="169164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176479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Data &amp; visualization</a:t>
            </a:r>
          </a:p>
        </p:txBody>
      </p:sp>
      <p:sp>
        <p:nvSpPr>
          <p:cNvPr id="19" name="TextBox 18"/>
          <p:cNvSpPr txBox="1"/>
          <p:nvPr/>
        </p:nvSpPr>
        <p:spPr>
          <a:xfrm>
            <a:off x="8247888" y="2221992"/>
            <a:ext cx="3154680" cy="97840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NumPy, Pandas, OpenCV</a:t>
            </a:r>
          </a:p>
          <a:p>
            <a:pPr>
              <a:spcAft>
                <a:spcPts val="800"/>
              </a:spcAft>
              <a:defRPr sz="1300" b="0">
                <a:solidFill>
                  <a:srgbClr val="23312D"/>
                </a:solidFill>
                <a:latin typeface="Aptos"/>
              </a:defRPr>
            </a:pPr>
            <a:r>
              <a:t>Matplotlib, Scikit-learn</a:t>
            </a:r>
          </a:p>
        </p:txBody>
      </p:sp>
      <p:sp>
        <p:nvSpPr>
          <p:cNvPr id="20" name="Rounded Rectangle 19"/>
          <p:cNvSpPr/>
          <p:nvPr/>
        </p:nvSpPr>
        <p:spPr>
          <a:xfrm>
            <a:off x="2514600" y="3703320"/>
            <a:ext cx="3520440" cy="137160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4600" y="3703320"/>
            <a:ext cx="73152" cy="137160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15768" y="3867911"/>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Dataset</a:t>
            </a:r>
          </a:p>
        </p:txBody>
      </p:sp>
      <p:sp>
        <p:nvSpPr>
          <p:cNvPr id="23" name="TextBox 22"/>
          <p:cNvSpPr txBox="1"/>
          <p:nvPr/>
        </p:nvSpPr>
        <p:spPr>
          <a:xfrm>
            <a:off x="2715768" y="4325112"/>
            <a:ext cx="3154680" cy="65836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PlantVillage Dataset</a:t>
            </a:r>
          </a:p>
        </p:txBody>
      </p:sp>
      <p:sp>
        <p:nvSpPr>
          <p:cNvPr id="24" name="Rounded Rectangle 23"/>
          <p:cNvSpPr/>
          <p:nvPr/>
        </p:nvSpPr>
        <p:spPr>
          <a:xfrm>
            <a:off x="6172200" y="3703320"/>
            <a:ext cx="3520440" cy="137160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3703320"/>
            <a:ext cx="73152" cy="137160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3867911"/>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Hardware</a:t>
            </a:r>
          </a:p>
        </p:txBody>
      </p:sp>
      <p:sp>
        <p:nvSpPr>
          <p:cNvPr id="27" name="TextBox 26"/>
          <p:cNvSpPr txBox="1"/>
          <p:nvPr/>
        </p:nvSpPr>
        <p:spPr>
          <a:xfrm>
            <a:off x="6373368" y="4325112"/>
            <a:ext cx="3154680" cy="65836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Windows 10/11 or Ubuntu; 8 GB RAM minimum; GPU recommended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1733279" y="359571"/>
            <a:ext cx="9280177"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System Modules / Components</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508760"/>
            <a:ext cx="3520440" cy="150876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08760"/>
            <a:ext cx="73152" cy="150876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673351"/>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Image input</a:t>
            </a:r>
          </a:p>
        </p:txBody>
      </p:sp>
      <p:sp>
        <p:nvSpPr>
          <p:cNvPr id="11" name="TextBox 10"/>
          <p:cNvSpPr txBox="1"/>
          <p:nvPr/>
        </p:nvSpPr>
        <p:spPr>
          <a:xfrm>
            <a:off x="841247" y="2130552"/>
            <a:ext cx="3154680" cy="79552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Upload or select a leaf image.</a:t>
            </a:r>
          </a:p>
        </p:txBody>
      </p:sp>
      <p:sp>
        <p:nvSpPr>
          <p:cNvPr id="12" name="Rounded Rectangle 11"/>
          <p:cNvSpPr/>
          <p:nvPr/>
        </p:nvSpPr>
        <p:spPr>
          <a:xfrm>
            <a:off x="4343400" y="1508760"/>
            <a:ext cx="3520440" cy="150876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508760"/>
            <a:ext cx="73152" cy="150876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673351"/>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Preprocessing</a:t>
            </a:r>
          </a:p>
        </p:txBody>
      </p:sp>
      <p:sp>
        <p:nvSpPr>
          <p:cNvPr id="15" name="TextBox 14"/>
          <p:cNvSpPr txBox="1"/>
          <p:nvPr/>
        </p:nvSpPr>
        <p:spPr>
          <a:xfrm>
            <a:off x="4544568" y="2130552"/>
            <a:ext cx="3154680" cy="79552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Resize, normalize, and optionally augment images.</a:t>
            </a:r>
          </a:p>
        </p:txBody>
      </p:sp>
      <p:sp>
        <p:nvSpPr>
          <p:cNvPr id="16" name="Rounded Rectangle 15"/>
          <p:cNvSpPr/>
          <p:nvPr/>
        </p:nvSpPr>
        <p:spPr>
          <a:xfrm>
            <a:off x="8046720" y="1508760"/>
            <a:ext cx="3520440" cy="150876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508760"/>
            <a:ext cx="73152" cy="150876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1673351"/>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Model training</a:t>
            </a:r>
          </a:p>
        </p:txBody>
      </p:sp>
      <p:sp>
        <p:nvSpPr>
          <p:cNvPr id="19" name="TextBox 18"/>
          <p:cNvSpPr txBox="1"/>
          <p:nvPr/>
        </p:nvSpPr>
        <p:spPr>
          <a:xfrm>
            <a:off x="8247888" y="2130552"/>
            <a:ext cx="3154680" cy="79552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Train or fine-tune the CNN-based model.</a:t>
            </a:r>
          </a:p>
        </p:txBody>
      </p:sp>
      <p:sp>
        <p:nvSpPr>
          <p:cNvPr id="20" name="Rounded Rectangle 19"/>
          <p:cNvSpPr/>
          <p:nvPr/>
        </p:nvSpPr>
        <p:spPr>
          <a:xfrm>
            <a:off x="2514600" y="3520440"/>
            <a:ext cx="3520440" cy="150876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4600" y="3520440"/>
            <a:ext cx="73152" cy="150876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15768" y="368503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Prediction</a:t>
            </a:r>
          </a:p>
        </p:txBody>
      </p:sp>
      <p:sp>
        <p:nvSpPr>
          <p:cNvPr id="23" name="TextBox 22"/>
          <p:cNvSpPr txBox="1"/>
          <p:nvPr/>
        </p:nvSpPr>
        <p:spPr>
          <a:xfrm>
            <a:off x="2715768" y="4142232"/>
            <a:ext cx="3154680" cy="79552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Map model scores to the supported class labels.</a:t>
            </a:r>
          </a:p>
        </p:txBody>
      </p:sp>
      <p:sp>
        <p:nvSpPr>
          <p:cNvPr id="24" name="Rounded Rectangle 23"/>
          <p:cNvSpPr/>
          <p:nvPr/>
        </p:nvSpPr>
        <p:spPr>
          <a:xfrm>
            <a:off x="6172200" y="3520440"/>
            <a:ext cx="3520440" cy="150876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3520440"/>
            <a:ext cx="73152" cy="150876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3685032"/>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Result display</a:t>
            </a:r>
          </a:p>
        </p:txBody>
      </p:sp>
      <p:sp>
        <p:nvSpPr>
          <p:cNvPr id="27" name="TextBox 26"/>
          <p:cNvSpPr txBox="1"/>
          <p:nvPr/>
        </p:nvSpPr>
        <p:spPr>
          <a:xfrm>
            <a:off x="6373368" y="4142232"/>
            <a:ext cx="3154680" cy="79552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Show predicted class and evaluation summary.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2980649" y="465805"/>
            <a:ext cx="5593080"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Implementation Plan</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6760" y="2265844"/>
            <a:ext cx="10698480" cy="4480560"/>
          </a:xfrm>
          <a:prstGeom prst="rect">
            <a:avLst/>
          </a:prstGeom>
          <a:noFill/>
        </p:spPr>
        <p:txBody>
          <a:bodyPr wrap="square" lIns="73152" rIns="73152">
            <a:spAutoFit/>
          </a:bodyPr>
          <a:lstStyle/>
          <a:p>
            <a:pPr>
              <a:spcAft>
                <a:spcPts val="1300"/>
              </a:spcAft>
              <a:defRPr sz="1800">
                <a:solidFill>
                  <a:srgbClr val="23312D"/>
                </a:solidFill>
                <a:latin typeface="Aptos"/>
              </a:defRPr>
            </a:pPr>
            <a:r>
              <a:rPr dirty="0"/>
              <a:t>•  Set up Python and the required libraries in Google </a:t>
            </a:r>
            <a:r>
              <a:rPr dirty="0" err="1"/>
              <a:t>Colab</a:t>
            </a:r>
            <a:r>
              <a:rPr dirty="0"/>
              <a:t>, Jupyter Notebook, or VS Code.</a:t>
            </a:r>
          </a:p>
          <a:p>
            <a:pPr>
              <a:spcAft>
                <a:spcPts val="1300"/>
              </a:spcAft>
              <a:defRPr sz="1800">
                <a:solidFill>
                  <a:srgbClr val="23312D"/>
                </a:solidFill>
                <a:latin typeface="Aptos"/>
              </a:defRPr>
            </a:pPr>
            <a:r>
              <a:rPr dirty="0"/>
              <a:t>•  Load the dataset and confirm that image labels and class folders are correct.</a:t>
            </a:r>
          </a:p>
          <a:p>
            <a:pPr>
              <a:spcAft>
                <a:spcPts val="1300"/>
              </a:spcAft>
              <a:defRPr sz="1800">
                <a:solidFill>
                  <a:srgbClr val="23312D"/>
                </a:solidFill>
                <a:latin typeface="Aptos"/>
              </a:defRPr>
            </a:pPr>
            <a:r>
              <a:rPr dirty="0"/>
              <a:t>•  Create preprocessing and augmentation pipelines.</a:t>
            </a:r>
          </a:p>
          <a:p>
            <a:pPr>
              <a:spcAft>
                <a:spcPts val="1300"/>
              </a:spcAft>
              <a:defRPr sz="1800">
                <a:solidFill>
                  <a:srgbClr val="23312D"/>
                </a:solidFill>
                <a:latin typeface="Aptos"/>
              </a:defRPr>
            </a:pPr>
            <a:r>
              <a:rPr dirty="0"/>
              <a:t>•  Build the transfer-learning model, configure the optimizer and loss, then train and validate it.</a:t>
            </a:r>
          </a:p>
          <a:p>
            <a:pPr>
              <a:spcAft>
                <a:spcPts val="1300"/>
              </a:spcAft>
              <a:defRPr sz="1800">
                <a:solidFill>
                  <a:srgbClr val="23312D"/>
                </a:solidFill>
                <a:latin typeface="Aptos"/>
              </a:defRPr>
            </a:pPr>
            <a:r>
              <a:rPr dirty="0"/>
              <a:t>•  Save the trained model and class-label mapping.</a:t>
            </a:r>
          </a:p>
          <a:p>
            <a:pPr>
              <a:spcAft>
                <a:spcPts val="1300"/>
              </a:spcAft>
              <a:defRPr sz="1800">
                <a:solidFill>
                  <a:srgbClr val="23312D"/>
                </a:solidFill>
                <a:latin typeface="Aptos"/>
              </a:defRPr>
            </a:pPr>
            <a:r>
              <a:rPr dirty="0"/>
              <a:t>•  Connect image input to inference and display the predicted class.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177294" y="465805"/>
            <a:ext cx="6065028"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Dataset and Input Data</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377440"/>
            <a:ext cx="11305622" cy="2421176"/>
          </a:xfrm>
          <a:prstGeom prst="rect">
            <a:avLst/>
          </a:prstGeom>
          <a:noFill/>
        </p:spPr>
        <p:txBody>
          <a:bodyPr wrap="square" lIns="73152" rIns="73152">
            <a:spAutoFit/>
          </a:bodyPr>
          <a:lstStyle/>
          <a:p>
            <a:pPr>
              <a:spcAft>
                <a:spcPts val="1300"/>
              </a:spcAft>
              <a:defRPr sz="1800">
                <a:solidFill>
                  <a:srgbClr val="23312D"/>
                </a:solidFill>
                <a:latin typeface="Aptos"/>
              </a:defRPr>
            </a:pPr>
            <a:r>
              <a:rPr dirty="0"/>
              <a:t>•  Dataset named in the project: </a:t>
            </a:r>
            <a:r>
              <a:rPr dirty="0" err="1"/>
              <a:t>PlantVillage</a:t>
            </a:r>
            <a:r>
              <a:rPr dirty="0"/>
              <a:t> Dataset.</a:t>
            </a:r>
          </a:p>
          <a:p>
            <a:pPr>
              <a:spcAft>
                <a:spcPts val="1300"/>
              </a:spcAft>
              <a:defRPr sz="1800">
                <a:solidFill>
                  <a:srgbClr val="23312D"/>
                </a:solidFill>
                <a:latin typeface="Aptos"/>
              </a:defRPr>
            </a:pPr>
            <a:r>
              <a:rPr dirty="0"/>
              <a:t>•  Input data: labeled images of plant leaves, including healthy and diseased examples.</a:t>
            </a:r>
          </a:p>
          <a:p>
            <a:pPr>
              <a:spcAft>
                <a:spcPts val="1300"/>
              </a:spcAft>
              <a:defRPr sz="1800">
                <a:solidFill>
                  <a:srgbClr val="23312D"/>
                </a:solidFill>
                <a:latin typeface="Aptos"/>
              </a:defRPr>
            </a:pPr>
            <a:r>
              <a:rPr dirty="0"/>
              <a:t>•  Preprocessing described for this project: resize images and normalize pixel values.</a:t>
            </a:r>
          </a:p>
          <a:p>
            <a:pPr>
              <a:spcAft>
                <a:spcPts val="1300"/>
              </a:spcAft>
              <a:defRPr sz="1800">
                <a:solidFill>
                  <a:srgbClr val="23312D"/>
                </a:solidFill>
                <a:latin typeface="Aptos"/>
              </a:defRPr>
            </a:pPr>
            <a:r>
              <a:rPr dirty="0"/>
              <a:t>•  Data augmentation options: rotation, horizontal/vertical flipping where appropriate, and zooming.</a:t>
            </a:r>
          </a:p>
          <a:p>
            <a:pPr>
              <a:spcAft>
                <a:spcPts val="1300"/>
              </a:spcAft>
              <a:defRPr sz="1800">
                <a:solidFill>
                  <a:srgbClr val="23312D"/>
                </a:solidFill>
                <a:latin typeface="Aptos"/>
              </a:defRPr>
            </a:pPr>
            <a:r>
              <a:rPr dirty="0"/>
              <a:t>•  Before final submission, add the exact number of images, class names, and train/validation/test split used in your implementation.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1230506" y="405291"/>
            <a:ext cx="10607039"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Algorithm: CNN and Transfer Learning</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600200"/>
            <a:ext cx="5212080" cy="34747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600200"/>
            <a:ext cx="73152" cy="347472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64792"/>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Convolutional Neural Network (CNN)</a:t>
            </a:r>
          </a:p>
        </p:txBody>
      </p:sp>
      <p:sp>
        <p:nvSpPr>
          <p:cNvPr id="11" name="TextBox 10"/>
          <p:cNvSpPr txBox="1"/>
          <p:nvPr/>
        </p:nvSpPr>
        <p:spPr>
          <a:xfrm>
            <a:off x="886968" y="2221992"/>
            <a:ext cx="4846320" cy="276148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 Learns visual patterns such as edges, textures, and leaf symptoms.</a:t>
            </a:r>
          </a:p>
          <a:p>
            <a:pPr>
              <a:spcAft>
                <a:spcPts val="800"/>
              </a:spcAft>
              <a:defRPr sz="1300" b="0">
                <a:solidFill>
                  <a:srgbClr val="23312D"/>
                </a:solidFill>
                <a:latin typeface="Aptos"/>
              </a:defRPr>
            </a:pPr>
            <a:r>
              <a:t>• Builds higher-level image features through convolution and pooling.</a:t>
            </a:r>
          </a:p>
          <a:p>
            <a:pPr>
              <a:spcAft>
                <a:spcPts val="800"/>
              </a:spcAft>
              <a:defRPr sz="1300" b="0">
                <a:solidFill>
                  <a:srgbClr val="23312D"/>
                </a:solidFill>
                <a:latin typeface="Aptos"/>
              </a:defRPr>
            </a:pPr>
            <a:r>
              <a:t>• A classifier maps learned features to disease classes.</a:t>
            </a:r>
          </a:p>
        </p:txBody>
      </p:sp>
      <p:sp>
        <p:nvSpPr>
          <p:cNvPr id="12" name="Rounded Rectangle 11"/>
          <p:cNvSpPr/>
          <p:nvPr/>
        </p:nvSpPr>
        <p:spPr>
          <a:xfrm>
            <a:off x="6172200" y="1600200"/>
            <a:ext cx="5212080" cy="34747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600200"/>
            <a:ext cx="73152" cy="347472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1764792"/>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Transfer learning</a:t>
            </a:r>
          </a:p>
        </p:txBody>
      </p:sp>
      <p:sp>
        <p:nvSpPr>
          <p:cNvPr id="15" name="TextBox 14"/>
          <p:cNvSpPr txBox="1"/>
          <p:nvPr/>
        </p:nvSpPr>
        <p:spPr>
          <a:xfrm>
            <a:off x="6373368" y="2221992"/>
            <a:ext cx="4846320" cy="2761487"/>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 Starts from a model pre-trained on a large image dataset.</a:t>
            </a:r>
          </a:p>
          <a:p>
            <a:pPr>
              <a:spcAft>
                <a:spcPts val="800"/>
              </a:spcAft>
              <a:defRPr sz="1300" b="0">
                <a:solidFill>
                  <a:srgbClr val="23312D"/>
                </a:solidFill>
                <a:latin typeface="Aptos"/>
              </a:defRPr>
            </a:pPr>
            <a:r>
              <a:t>• Reuses learned visual features.</a:t>
            </a:r>
          </a:p>
          <a:p>
            <a:pPr>
              <a:spcAft>
                <a:spcPts val="800"/>
              </a:spcAft>
              <a:defRPr sz="1300" b="0">
                <a:solidFill>
                  <a:srgbClr val="23312D"/>
                </a:solidFill>
                <a:latin typeface="Aptos"/>
              </a:defRPr>
            </a:pPr>
            <a:r>
              <a:t>• Replaces/adapts the final classification layer for the plant-leaf classes.</a:t>
            </a:r>
          </a:p>
          <a:p>
            <a:pPr>
              <a:spcAft>
                <a:spcPts val="800"/>
              </a:spcAft>
              <a:defRPr sz="1300" b="0">
                <a:solidFill>
                  <a:srgbClr val="23312D"/>
                </a:solidFill>
                <a:latin typeface="Aptos"/>
              </a:defRPr>
            </a:pPr>
            <a:r>
              <a:t>• Can reduce training time compared with training from scratch.</a:t>
            </a:r>
          </a:p>
        </p:txBody>
      </p:sp>
      <p:sp>
        <p:nvSpPr>
          <p:cNvPr id="16" name="TextBox 15"/>
          <p:cNvSpPr txBox="1"/>
          <p:nvPr/>
        </p:nvSpPr>
        <p:spPr>
          <a:xfrm>
            <a:off x="822960" y="5394960"/>
            <a:ext cx="10607040" cy="411480"/>
          </a:xfrm>
          <a:prstGeom prst="rect">
            <a:avLst/>
          </a:prstGeom>
          <a:noFill/>
        </p:spPr>
        <p:txBody>
          <a:bodyPr wrap="square" lIns="54864" tIns="36576" rIns="54864" bIns="27432">
            <a:spAutoFit/>
          </a:bodyPr>
          <a:lstStyle/>
          <a:p>
            <a:pPr algn="ctr">
              <a:spcAft>
                <a:spcPts val="800"/>
              </a:spcAft>
              <a:defRPr sz="1500" b="1">
                <a:solidFill>
                  <a:srgbClr val="2A7653"/>
                </a:solidFill>
                <a:latin typeface="Aptos"/>
              </a:defRPr>
            </a:pPr>
            <a:r>
              <a:t>Candidate backbones listed in the project abstract: MobileNetV2, ResNet50, or VGG16.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1604132" y="384717"/>
            <a:ext cx="9358048"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Results and Performance Evaluation</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15600" cy="548640"/>
          </a:xfrm>
          <a:prstGeom prst="rect">
            <a:avLst/>
          </a:prstGeom>
          <a:noFill/>
        </p:spPr>
        <p:txBody>
          <a:bodyPr wrap="square" lIns="54864" tIns="36576" rIns="54864" bIns="27432">
            <a:spAutoFit/>
          </a:bodyPr>
          <a:lstStyle/>
          <a:p>
            <a:pPr algn="ctr">
              <a:spcAft>
                <a:spcPts val="800"/>
              </a:spcAft>
              <a:defRPr sz="1800" b="1">
                <a:solidFill>
                  <a:srgbClr val="DD974D"/>
                </a:solidFill>
                <a:latin typeface="Aptos"/>
              </a:defRPr>
            </a:pPr>
            <a:r>
              <a:t>No measured training/evaluation results were included in the supplied PPT.</a:t>
            </a:r>
          </a:p>
        </p:txBody>
      </p:sp>
      <p:sp>
        <p:nvSpPr>
          <p:cNvPr id="9" name="Rounded Rectangle 8"/>
          <p:cNvSpPr/>
          <p:nvPr/>
        </p:nvSpPr>
        <p:spPr>
          <a:xfrm>
            <a:off x="731520" y="2331720"/>
            <a:ext cx="3474720" cy="201168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331720"/>
            <a:ext cx="73152" cy="201168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496312"/>
            <a:ext cx="312724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Accuracy</a:t>
            </a:r>
          </a:p>
        </p:txBody>
      </p:sp>
      <p:sp>
        <p:nvSpPr>
          <p:cNvPr id="12" name="TextBox 11"/>
          <p:cNvSpPr txBox="1"/>
          <p:nvPr/>
        </p:nvSpPr>
        <p:spPr>
          <a:xfrm>
            <a:off x="932688" y="2953512"/>
            <a:ext cx="3108960" cy="129844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Correct predictions ÷ total predictions</a:t>
            </a:r>
          </a:p>
        </p:txBody>
      </p:sp>
      <p:sp>
        <p:nvSpPr>
          <p:cNvPr id="13" name="Rounded Rectangle 12"/>
          <p:cNvSpPr/>
          <p:nvPr/>
        </p:nvSpPr>
        <p:spPr>
          <a:xfrm>
            <a:off x="4389120" y="2331720"/>
            <a:ext cx="3474720" cy="201168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2331720"/>
            <a:ext cx="73152" cy="201168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0288" y="2496312"/>
            <a:ext cx="312724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Precision / Recall</a:t>
            </a:r>
          </a:p>
        </p:txBody>
      </p:sp>
      <p:sp>
        <p:nvSpPr>
          <p:cNvPr id="16" name="TextBox 15"/>
          <p:cNvSpPr txBox="1"/>
          <p:nvPr/>
        </p:nvSpPr>
        <p:spPr>
          <a:xfrm>
            <a:off x="4590288" y="2953512"/>
            <a:ext cx="3108960" cy="129844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Report per class where possible</a:t>
            </a:r>
          </a:p>
        </p:txBody>
      </p:sp>
      <p:sp>
        <p:nvSpPr>
          <p:cNvPr id="17" name="Rounded Rectangle 16"/>
          <p:cNvSpPr/>
          <p:nvPr/>
        </p:nvSpPr>
        <p:spPr>
          <a:xfrm>
            <a:off x="8046720" y="2331720"/>
            <a:ext cx="3474720" cy="201168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2331720"/>
            <a:ext cx="73152" cy="201168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7888" y="2496312"/>
            <a:ext cx="312724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F1-score / Confusion matrix</a:t>
            </a:r>
          </a:p>
        </p:txBody>
      </p:sp>
      <p:sp>
        <p:nvSpPr>
          <p:cNvPr id="20" name="TextBox 19"/>
          <p:cNvSpPr txBox="1"/>
          <p:nvPr/>
        </p:nvSpPr>
        <p:spPr>
          <a:xfrm>
            <a:off x="8247888" y="2953512"/>
            <a:ext cx="3108960" cy="129844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Use test-set predictions to summarize errors</a:t>
            </a:r>
          </a:p>
        </p:txBody>
      </p:sp>
      <p:sp>
        <p:nvSpPr>
          <p:cNvPr id="21" name="TextBox 20"/>
          <p:cNvSpPr txBox="1"/>
          <p:nvPr/>
        </p:nvSpPr>
        <p:spPr>
          <a:xfrm>
            <a:off x="914400" y="4983480"/>
            <a:ext cx="10241280" cy="594360"/>
          </a:xfrm>
          <a:prstGeom prst="rect">
            <a:avLst/>
          </a:prstGeom>
          <a:noFill/>
        </p:spPr>
        <p:txBody>
          <a:bodyPr wrap="square" lIns="54864" tIns="36576" rIns="54864" bIns="27432">
            <a:spAutoFit/>
          </a:bodyPr>
          <a:lstStyle/>
          <a:p>
            <a:pPr algn="ctr">
              <a:spcAft>
                <a:spcPts val="800"/>
              </a:spcAft>
              <a:defRPr sz="1600" b="1">
                <a:solidFill>
                  <a:srgbClr val="23312D"/>
                </a:solidFill>
                <a:latin typeface="Aptos"/>
              </a:defRPr>
            </a:pPr>
            <a:r>
              <a:t>Replace this slide with actual values and graphs after running the model. Do not report estimated metrics as measured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3462430" y="419546"/>
            <a:ext cx="5637915"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Screenshots / Demo</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645920"/>
            <a:ext cx="3520440" cy="25603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645920"/>
            <a:ext cx="73152" cy="256032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6864" y="2014335"/>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rPr dirty="0"/>
              <a:t>Screen 1 — Image input</a:t>
            </a:r>
          </a:p>
        </p:txBody>
      </p:sp>
      <p:sp>
        <p:nvSpPr>
          <p:cNvPr id="11" name="TextBox 10"/>
          <p:cNvSpPr txBox="1"/>
          <p:nvPr/>
        </p:nvSpPr>
        <p:spPr>
          <a:xfrm>
            <a:off x="850392" y="2640445"/>
            <a:ext cx="3328416" cy="464743"/>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Insert screenshot of the page/notebook where a user selects a leaf image.</a:t>
            </a:r>
          </a:p>
        </p:txBody>
      </p:sp>
      <p:sp>
        <p:nvSpPr>
          <p:cNvPr id="12" name="Rounded Rectangle 11"/>
          <p:cNvSpPr/>
          <p:nvPr/>
        </p:nvSpPr>
        <p:spPr>
          <a:xfrm>
            <a:off x="4343400" y="1645920"/>
            <a:ext cx="3520440" cy="25603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645920"/>
            <a:ext cx="73152" cy="256032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17136" y="2085905"/>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rPr dirty="0"/>
              <a:t>Screen 2 — Processing</a:t>
            </a:r>
          </a:p>
        </p:txBody>
      </p:sp>
      <p:sp>
        <p:nvSpPr>
          <p:cNvPr id="15" name="TextBox 14"/>
          <p:cNvSpPr txBox="1"/>
          <p:nvPr/>
        </p:nvSpPr>
        <p:spPr>
          <a:xfrm>
            <a:off x="4507992" y="2640444"/>
            <a:ext cx="3328416" cy="464743"/>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rPr dirty="0"/>
              <a:t>Insert screenshot showing preprocessing or model inference.</a:t>
            </a:r>
          </a:p>
        </p:txBody>
      </p:sp>
      <p:sp>
        <p:nvSpPr>
          <p:cNvPr id="16" name="Rounded Rectangle 15"/>
          <p:cNvSpPr/>
          <p:nvPr/>
        </p:nvSpPr>
        <p:spPr>
          <a:xfrm>
            <a:off x="8001000" y="1645920"/>
            <a:ext cx="3520440" cy="25603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645920"/>
            <a:ext cx="73152" cy="256032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74736" y="2089838"/>
            <a:ext cx="317296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rPr dirty="0"/>
              <a:t>Screen 3 — Prediction</a:t>
            </a:r>
          </a:p>
        </p:txBody>
      </p:sp>
      <p:sp>
        <p:nvSpPr>
          <p:cNvPr id="19" name="TextBox 18"/>
          <p:cNvSpPr txBox="1"/>
          <p:nvPr/>
        </p:nvSpPr>
        <p:spPr>
          <a:xfrm>
            <a:off x="8129016" y="2510828"/>
            <a:ext cx="3456432" cy="464743"/>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rPr dirty="0"/>
              <a:t>Insert screenshot of the actual predicted class and confidence, if available.</a:t>
            </a:r>
          </a:p>
        </p:txBody>
      </p:sp>
      <p:sp>
        <p:nvSpPr>
          <p:cNvPr id="20" name="TextBox 19"/>
          <p:cNvSpPr txBox="1"/>
          <p:nvPr/>
        </p:nvSpPr>
        <p:spPr>
          <a:xfrm>
            <a:off x="914400" y="4754880"/>
            <a:ext cx="10241280" cy="457200"/>
          </a:xfrm>
          <a:prstGeom prst="rect">
            <a:avLst/>
          </a:prstGeom>
          <a:noFill/>
        </p:spPr>
        <p:txBody>
          <a:bodyPr wrap="square" lIns="54864" tIns="36576" rIns="54864" bIns="27432">
            <a:spAutoFit/>
          </a:bodyPr>
          <a:lstStyle/>
          <a:p>
            <a:pPr algn="ctr">
              <a:spcAft>
                <a:spcPts val="800"/>
              </a:spcAft>
              <a:defRPr sz="1500" b="0">
                <a:solidFill>
                  <a:srgbClr val="5C6963"/>
                </a:solidFill>
                <a:latin typeface="Aptos"/>
              </a:defRPr>
            </a:pPr>
            <a:r>
              <a:rPr dirty="0"/>
              <a:t>These are placeholders: screenshots were not present in the supplied files.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2159606" y="405291"/>
            <a:ext cx="8025187"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Advantages and Applications</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554480"/>
            <a:ext cx="5212080" cy="329184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554480"/>
            <a:ext cx="73152" cy="329184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19072"/>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Advantages</a:t>
            </a:r>
          </a:p>
        </p:txBody>
      </p:sp>
      <p:sp>
        <p:nvSpPr>
          <p:cNvPr id="11" name="TextBox 10"/>
          <p:cNvSpPr txBox="1"/>
          <p:nvPr/>
        </p:nvSpPr>
        <p:spPr>
          <a:xfrm>
            <a:off x="886968" y="2176272"/>
            <a:ext cx="4846320" cy="257860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 Faster image-based screening</a:t>
            </a:r>
          </a:p>
          <a:p>
            <a:pPr>
              <a:spcAft>
                <a:spcPts val="800"/>
              </a:spcAft>
              <a:defRPr sz="1300" b="0">
                <a:solidFill>
                  <a:srgbClr val="23312D"/>
                </a:solidFill>
                <a:latin typeface="Aptos"/>
              </a:defRPr>
            </a:pPr>
            <a:r>
              <a:t>• Consistent model predictions for supported classes</a:t>
            </a:r>
          </a:p>
          <a:p>
            <a:pPr>
              <a:spcAft>
                <a:spcPts val="800"/>
              </a:spcAft>
              <a:defRPr sz="1300" b="0">
                <a:solidFill>
                  <a:srgbClr val="23312D"/>
                </a:solidFill>
                <a:latin typeface="Aptos"/>
              </a:defRPr>
            </a:pPr>
            <a:r>
              <a:t>• Reuses pre-trained visual features</a:t>
            </a:r>
          </a:p>
          <a:p>
            <a:pPr>
              <a:spcAft>
                <a:spcPts val="800"/>
              </a:spcAft>
              <a:defRPr sz="1300" b="0">
                <a:solidFill>
                  <a:srgbClr val="23312D"/>
                </a:solidFill>
                <a:latin typeface="Aptos"/>
              </a:defRPr>
            </a:pPr>
            <a:r>
              <a:t>• Can be extended to a mobile/web interface</a:t>
            </a:r>
          </a:p>
        </p:txBody>
      </p:sp>
      <p:sp>
        <p:nvSpPr>
          <p:cNvPr id="12" name="Rounded Rectangle 11"/>
          <p:cNvSpPr/>
          <p:nvPr/>
        </p:nvSpPr>
        <p:spPr>
          <a:xfrm>
            <a:off x="6172200" y="1554480"/>
            <a:ext cx="5212080" cy="329184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554480"/>
            <a:ext cx="73152" cy="329184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1719072"/>
            <a:ext cx="486460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Applications</a:t>
            </a:r>
          </a:p>
        </p:txBody>
      </p:sp>
      <p:sp>
        <p:nvSpPr>
          <p:cNvPr id="15" name="TextBox 14"/>
          <p:cNvSpPr txBox="1"/>
          <p:nvPr/>
        </p:nvSpPr>
        <p:spPr>
          <a:xfrm>
            <a:off x="6373368" y="2176272"/>
            <a:ext cx="4846320" cy="257860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 Preliminary crop-health screening</a:t>
            </a:r>
          </a:p>
          <a:p>
            <a:pPr>
              <a:spcAft>
                <a:spcPts val="800"/>
              </a:spcAft>
              <a:defRPr sz="1300" b="0">
                <a:solidFill>
                  <a:srgbClr val="23312D"/>
                </a:solidFill>
                <a:latin typeface="Aptos"/>
              </a:defRPr>
            </a:pPr>
            <a:r>
              <a:t>• Agricultural education and demonstrations</a:t>
            </a:r>
          </a:p>
          <a:p>
            <a:pPr>
              <a:spcAft>
                <a:spcPts val="800"/>
              </a:spcAft>
              <a:defRPr sz="1300" b="0">
                <a:solidFill>
                  <a:srgbClr val="23312D"/>
                </a:solidFill>
                <a:latin typeface="Aptos"/>
              </a:defRPr>
            </a:pPr>
            <a:r>
              <a:t>• Support tools for farmers and agricultural workers</a:t>
            </a:r>
          </a:p>
          <a:p>
            <a:pPr>
              <a:spcAft>
                <a:spcPts val="800"/>
              </a:spcAft>
              <a:defRPr sz="1300" b="0">
                <a:solidFill>
                  <a:srgbClr val="23312D"/>
                </a:solidFill>
                <a:latin typeface="Aptos"/>
              </a:defRPr>
            </a:pPr>
            <a:r>
              <a:t>• Research on computer vision for plant health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4111359" y="333756"/>
            <a:ext cx="3253003"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Limitations</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10698480" cy="4480560"/>
          </a:xfrm>
          <a:prstGeom prst="rect">
            <a:avLst/>
          </a:prstGeom>
          <a:noFill/>
        </p:spPr>
        <p:txBody>
          <a:bodyPr wrap="square" lIns="73152" rIns="73152">
            <a:spAutoFit/>
          </a:bodyPr>
          <a:lstStyle/>
          <a:p>
            <a:pPr>
              <a:spcAft>
                <a:spcPts val="1300"/>
              </a:spcAft>
              <a:defRPr sz="1800">
                <a:solidFill>
                  <a:srgbClr val="23312D"/>
                </a:solidFill>
                <a:latin typeface="Aptos"/>
              </a:defRPr>
            </a:pPr>
            <a:r>
              <a:rPr dirty="0"/>
              <a:t>•  Predictions depend on dataset quality, class coverage, and label correctness.</a:t>
            </a:r>
          </a:p>
          <a:p>
            <a:pPr>
              <a:spcAft>
                <a:spcPts val="1300"/>
              </a:spcAft>
              <a:defRPr sz="1800">
                <a:solidFill>
                  <a:srgbClr val="23312D"/>
                </a:solidFill>
                <a:latin typeface="Aptos"/>
              </a:defRPr>
            </a:pPr>
            <a:r>
              <a:rPr dirty="0"/>
              <a:t>•  Lighting, background, camera quality, and leaf orientation may affect results.</a:t>
            </a:r>
          </a:p>
          <a:p>
            <a:pPr>
              <a:spcAft>
                <a:spcPts val="1300"/>
              </a:spcAft>
              <a:defRPr sz="1800">
                <a:solidFill>
                  <a:srgbClr val="23312D"/>
                </a:solidFill>
                <a:latin typeface="Aptos"/>
              </a:defRPr>
            </a:pPr>
            <a:r>
              <a:rPr dirty="0"/>
              <a:t>•  A model may perform poorly on plant varieties or diseases absent from training data.</a:t>
            </a:r>
          </a:p>
          <a:p>
            <a:pPr>
              <a:spcAft>
                <a:spcPts val="1300"/>
              </a:spcAft>
              <a:defRPr sz="1800">
                <a:solidFill>
                  <a:srgbClr val="23312D"/>
                </a:solidFill>
                <a:latin typeface="Aptos"/>
              </a:defRPr>
            </a:pPr>
            <a:r>
              <a:rPr dirty="0"/>
              <a:t>•  A predicted class does not replace confirmation by an agricultural expert.</a:t>
            </a:r>
          </a:p>
          <a:p>
            <a:pPr>
              <a:spcAft>
                <a:spcPts val="1300"/>
              </a:spcAft>
              <a:defRPr sz="1800">
                <a:solidFill>
                  <a:srgbClr val="23312D"/>
                </a:solidFill>
                <a:latin typeface="Aptos"/>
              </a:defRPr>
            </a:pPr>
            <a:r>
              <a:rPr dirty="0"/>
              <a:t>•  Actual limitations and generalization should be checked using held-out and real-world images.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4187952" y="592295"/>
            <a:ext cx="4000254"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Future Scope</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961044"/>
            <a:ext cx="10698480" cy="4480560"/>
          </a:xfrm>
          <a:prstGeom prst="rect">
            <a:avLst/>
          </a:prstGeom>
          <a:noFill/>
        </p:spPr>
        <p:txBody>
          <a:bodyPr wrap="square" lIns="73152" rIns="73152">
            <a:spAutoFit/>
          </a:bodyPr>
          <a:lstStyle/>
          <a:p>
            <a:pPr>
              <a:spcAft>
                <a:spcPts val="1300"/>
              </a:spcAft>
              <a:defRPr sz="1800">
                <a:solidFill>
                  <a:srgbClr val="23312D"/>
                </a:solidFill>
                <a:latin typeface="Aptos"/>
              </a:defRPr>
            </a:pPr>
            <a:r>
              <a:t>•  Develop a simple web or mobile application for image upload and prediction.</a:t>
            </a:r>
          </a:p>
          <a:p>
            <a:pPr>
              <a:spcAft>
                <a:spcPts val="1300"/>
              </a:spcAft>
              <a:defRPr sz="1800">
                <a:solidFill>
                  <a:srgbClr val="23312D"/>
                </a:solidFill>
                <a:latin typeface="Aptos"/>
              </a:defRPr>
            </a:pPr>
            <a:r>
              <a:t>•  Evaluate the model on field images collected under varied lighting and backgrounds.</a:t>
            </a:r>
          </a:p>
          <a:p>
            <a:pPr>
              <a:spcAft>
                <a:spcPts val="1300"/>
              </a:spcAft>
              <a:defRPr sz="1800">
                <a:solidFill>
                  <a:srgbClr val="23312D"/>
                </a:solidFill>
                <a:latin typeface="Aptos"/>
              </a:defRPr>
            </a:pPr>
            <a:r>
              <a:t>•  Expand the dataset to cover more crops, disease classes, and healthy examples.</a:t>
            </a:r>
          </a:p>
          <a:p>
            <a:pPr>
              <a:spcAft>
                <a:spcPts val="1300"/>
              </a:spcAft>
              <a:defRPr sz="1800">
                <a:solidFill>
                  <a:srgbClr val="23312D"/>
                </a:solidFill>
                <a:latin typeface="Aptos"/>
              </a:defRPr>
            </a:pPr>
            <a:r>
              <a:t>•  Add explainability visualizations to indicate image regions influencing predictions.</a:t>
            </a:r>
          </a:p>
          <a:p>
            <a:pPr>
              <a:spcAft>
                <a:spcPts val="1300"/>
              </a:spcAft>
              <a:defRPr sz="1800">
                <a:solidFill>
                  <a:srgbClr val="23312D"/>
                </a:solidFill>
                <a:latin typeface="Aptos"/>
              </a:defRPr>
            </a:pPr>
            <a:r>
              <a:t>•  Optimize the model for faster inference on low-resource devices.</a:t>
            </a:r>
          </a:p>
          <a:p>
            <a:pPr>
              <a:spcAft>
                <a:spcPts val="1300"/>
              </a:spcAft>
              <a:defRPr sz="1800">
                <a:solidFill>
                  <a:srgbClr val="23312D"/>
                </a:solidFill>
                <a:latin typeface="Aptos"/>
              </a:defRPr>
            </a:pPr>
            <a:r>
              <a:t>•  Provide carefully reviewed disease-prevention information alongside predictions.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2"/>
        </a:solidFill>
        <a:effectLst/>
      </p:bgPr>
    </p:bg>
    <p:spTree>
      <p:nvGrpSpPr>
        <p:cNvPr id="1" name=""/>
        <p:cNvGrpSpPr/>
        <p:nvPr/>
      </p:nvGrpSpPr>
      <p:grpSpPr>
        <a:xfrm>
          <a:off x="0" y="0"/>
          <a:ext cx="0" cy="0"/>
          <a:chOff x="0" y="0"/>
          <a:chExt cx="0" cy="0"/>
        </a:xfrm>
      </p:grpSpPr>
      <p:sp>
        <p:nvSpPr>
          <p:cNvPr id="4" name="TextBox 3"/>
          <p:cNvSpPr txBox="1"/>
          <p:nvPr/>
        </p:nvSpPr>
        <p:spPr>
          <a:xfrm>
            <a:off x="4261104" y="497809"/>
            <a:ext cx="3374136" cy="741742"/>
          </a:xfrm>
          <a:prstGeom prst="rect">
            <a:avLst/>
          </a:prstGeom>
          <a:noFill/>
        </p:spPr>
        <p:txBody>
          <a:bodyPr wrap="square" lIns="54864" tIns="36576" rIns="54864" bIns="27432">
            <a:spAutoFit/>
          </a:bodyPr>
          <a:lstStyle/>
          <a:p>
            <a:pPr>
              <a:spcAft>
                <a:spcPts val="800"/>
              </a:spcAft>
              <a:defRPr sz="2800" b="1">
                <a:solidFill>
                  <a:srgbClr val="14302D"/>
                </a:solidFill>
                <a:latin typeface="Aptos"/>
              </a:defRPr>
            </a:pPr>
            <a:r>
              <a:rPr sz="4400" dirty="0"/>
              <a:t>Conclusion</a:t>
            </a:r>
          </a:p>
        </p:txBody>
      </p:sp>
      <p:sp>
        <p:nvSpPr>
          <p:cNvPr id="5" name="Rectangle 4"/>
          <p:cNvSpPr/>
          <p:nvPr/>
        </p:nvSpPr>
        <p:spPr>
          <a:xfrm>
            <a:off x="502920" y="6510528"/>
            <a:ext cx="11155680" cy="13716"/>
          </a:xfrm>
          <a:prstGeom prst="rect">
            <a:avLst/>
          </a:prstGeom>
          <a:solidFill>
            <a:srgbClr val="E2E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00200"/>
            <a:ext cx="10332720" cy="1143000"/>
          </a:xfrm>
          <a:prstGeom prst="rect">
            <a:avLst/>
          </a:prstGeom>
          <a:noFill/>
        </p:spPr>
        <p:txBody>
          <a:bodyPr wrap="square" lIns="54864" tIns="36576" rIns="54864" bIns="27432">
            <a:spAutoFit/>
          </a:bodyPr>
          <a:lstStyle/>
          <a:p>
            <a:pPr algn="ctr">
              <a:spcAft>
                <a:spcPts val="800"/>
              </a:spcAft>
              <a:defRPr sz="2400" b="1">
                <a:solidFill>
                  <a:srgbClr val="14302D"/>
                </a:solidFill>
                <a:latin typeface="Aptos"/>
              </a:defRPr>
            </a:pPr>
            <a:r>
              <a:t>This project explores plant disease classification from leaf images using CNNs and transfer learning.</a:t>
            </a:r>
          </a:p>
        </p:txBody>
      </p:sp>
      <p:sp>
        <p:nvSpPr>
          <p:cNvPr id="9" name="Rounded Rectangle 8"/>
          <p:cNvSpPr/>
          <p:nvPr/>
        </p:nvSpPr>
        <p:spPr>
          <a:xfrm>
            <a:off x="914400" y="3154680"/>
            <a:ext cx="3108960" cy="16459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3154680"/>
            <a:ext cx="73152" cy="164592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3319272"/>
            <a:ext cx="276148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Core idea</a:t>
            </a:r>
          </a:p>
        </p:txBody>
      </p:sp>
      <p:sp>
        <p:nvSpPr>
          <p:cNvPr id="12" name="TextBox 11"/>
          <p:cNvSpPr txBox="1"/>
          <p:nvPr/>
        </p:nvSpPr>
        <p:spPr>
          <a:xfrm>
            <a:off x="1115568" y="3776472"/>
            <a:ext cx="2743200" cy="93268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Learn visual features from leaf images and predict a supported class.</a:t>
            </a:r>
          </a:p>
        </p:txBody>
      </p:sp>
      <p:sp>
        <p:nvSpPr>
          <p:cNvPr id="13" name="Rounded Rectangle 12"/>
          <p:cNvSpPr/>
          <p:nvPr/>
        </p:nvSpPr>
        <p:spPr>
          <a:xfrm>
            <a:off x="4526280" y="3154680"/>
            <a:ext cx="3108960" cy="16459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26280" y="3154680"/>
            <a:ext cx="73152" cy="1645920"/>
          </a:xfrm>
          <a:prstGeom prst="rect">
            <a:avLst/>
          </a:prstGeom>
          <a:solidFill>
            <a:srgbClr val="DD9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27448" y="3319272"/>
            <a:ext cx="276148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Expected value</a:t>
            </a:r>
          </a:p>
        </p:txBody>
      </p:sp>
      <p:sp>
        <p:nvSpPr>
          <p:cNvPr id="16" name="TextBox 15"/>
          <p:cNvSpPr txBox="1"/>
          <p:nvPr/>
        </p:nvSpPr>
        <p:spPr>
          <a:xfrm>
            <a:off x="4727448" y="3776472"/>
            <a:ext cx="2743200" cy="93268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Support earlier screening and reduce time spent on manual checks.</a:t>
            </a:r>
          </a:p>
        </p:txBody>
      </p:sp>
      <p:sp>
        <p:nvSpPr>
          <p:cNvPr id="17" name="Rounded Rectangle 16"/>
          <p:cNvSpPr/>
          <p:nvPr/>
        </p:nvSpPr>
        <p:spPr>
          <a:xfrm>
            <a:off x="8138160" y="3154680"/>
            <a:ext cx="3108960" cy="1645920"/>
          </a:xfrm>
          <a:prstGeom prst="roundRect">
            <a:avLst/>
          </a:prstGeom>
          <a:solidFill>
            <a:srgbClr val="FFFFFF"/>
          </a:solidFill>
          <a:ln>
            <a:solidFill>
              <a:srgbClr val="E2E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3154680"/>
            <a:ext cx="73152" cy="1645920"/>
          </a:xfrm>
          <a:prstGeom prst="rect">
            <a:avLst/>
          </a:prstGeom>
          <a:solidFill>
            <a:srgbClr val="2A7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3319272"/>
            <a:ext cx="2761488" cy="384048"/>
          </a:xfrm>
          <a:prstGeom prst="rect">
            <a:avLst/>
          </a:prstGeom>
          <a:noFill/>
        </p:spPr>
        <p:txBody>
          <a:bodyPr wrap="square" lIns="54864" tIns="36576" rIns="54864" bIns="27432">
            <a:spAutoFit/>
          </a:bodyPr>
          <a:lstStyle/>
          <a:p>
            <a:pPr>
              <a:spcAft>
                <a:spcPts val="800"/>
              </a:spcAft>
              <a:defRPr sz="1700" b="1">
                <a:solidFill>
                  <a:srgbClr val="14302D"/>
                </a:solidFill>
                <a:latin typeface="Aptos"/>
              </a:defRPr>
            </a:pPr>
            <a:r>
              <a:t>Next step</a:t>
            </a:r>
          </a:p>
        </p:txBody>
      </p:sp>
      <p:sp>
        <p:nvSpPr>
          <p:cNvPr id="20" name="TextBox 19"/>
          <p:cNvSpPr txBox="1"/>
          <p:nvPr/>
        </p:nvSpPr>
        <p:spPr>
          <a:xfrm>
            <a:off x="8339328" y="3776472"/>
            <a:ext cx="2743200" cy="932688"/>
          </a:xfrm>
          <a:prstGeom prst="rect">
            <a:avLst/>
          </a:prstGeom>
          <a:noFill/>
        </p:spPr>
        <p:txBody>
          <a:bodyPr wrap="square" lIns="54864" tIns="36576" rIns="54864" bIns="27432">
            <a:spAutoFit/>
          </a:bodyPr>
          <a:lstStyle/>
          <a:p>
            <a:pPr>
              <a:spcAft>
                <a:spcPts val="800"/>
              </a:spcAft>
              <a:defRPr sz="1300" b="0">
                <a:solidFill>
                  <a:srgbClr val="23312D"/>
                </a:solidFill>
                <a:latin typeface="Aptos"/>
              </a:defRPr>
            </a:pPr>
            <a:r>
              <a:t>Run the model, record real metrics, and add demo screenshots.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C51AEC-A861-BC7A-77F1-8806C3BBBEF3}"/>
              </a:ext>
            </a:extLst>
          </p:cNvPr>
          <p:cNvPicPr>
            <a:picLocks noChangeAspect="1"/>
          </p:cNvPicPr>
          <p:nvPr/>
        </p:nvPicPr>
        <p:blipFill>
          <a:blip r:embed="rId2"/>
          <a:stretch>
            <a:fillRect/>
          </a:stretch>
        </p:blipFill>
        <p:spPr>
          <a:xfrm>
            <a:off x="2261652" y="961680"/>
            <a:ext cx="7668695" cy="4927843"/>
          </a:xfrm>
          <a:prstGeom prst="rect">
            <a:avLst/>
          </a:prstGeom>
        </p:spPr>
      </p:pic>
    </p:spTree>
    <p:extLst>
      <p:ext uri="{BB962C8B-B14F-4D97-AF65-F5344CB8AC3E}">
        <p14:creationId xmlns:p14="http://schemas.microsoft.com/office/powerpoint/2010/main" val="1224401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TotalTime>
  <Words>1427</Words>
  <Application>Microsoft Office PowerPoint</Application>
  <PresentationFormat>Widescreen</PresentationFormat>
  <Paragraphs>172</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Arial Rounded MT Bold</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Kolli Mrudula</dc:creator>
  <cp:lastModifiedBy>Kolli Mrudula</cp:lastModifiedBy>
  <cp:revision>2</cp:revision>
  <dcterms:created xsi:type="dcterms:W3CDTF">2026-08-15T07:11:45Z</dcterms:created>
  <dcterms:modified xsi:type="dcterms:W3CDTF">2026-10-13T15:51:08Z</dcterms:modified>
</cp:coreProperties>
</file>